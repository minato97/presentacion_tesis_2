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15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s://minato97.github.io/presentacion_tesis_2/#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cho Andrade\Documents\Claude\Projects\Tesis Nacho\Presentacion_Avances\assets\Fond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1E">
              <a:alpha val="62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pic>
        <p:nvPicPr>
          <p:cNvPr id="4" name="Image 1" descr="C:\Users\Nacho Andrade\Documents\Claude\Projects\Tesis Nacho\Presentacion_Avances\assets\LogoUd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457200"/>
            <a:ext cx="1148984" cy="1463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126480" y="603504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2"/>
          <p:cNvSpPr/>
          <p:nvPr/>
        </p:nvSpPr>
        <p:spPr>
          <a:xfrm>
            <a:off x="6126480" y="69494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kern="0" spc="200" dirty="0">
                <a:solidFill>
                  <a:srgbClr val="9D2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SECIHTI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6126480" y="115214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50" dirty="0">
                <a:solidFill>
                  <a:srgbClr val="B08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SECRETARÍA DE CIENCIA, HUMANIDADES,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50" dirty="0">
                <a:solidFill>
                  <a:srgbClr val="B08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 E INNOVACIÓN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914400" y="2057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EC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de Guadalajara · Centro Universitario de los Valles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2468880"/>
            <a:ext cx="9628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Monitoreo Medioambiental y Edafológico con integración de un agente inteligente para la interpretación de datos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914400" y="3977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Maestría en Ingeniería de Software · </a:t>
            </a:r>
            <a:r>
              <a:rPr lang="en-US" sz="1400" b="1" dirty="0">
                <a:solidFill>
                  <a:srgbClr val="AAC2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Avances de Tesis — 2.º semestre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417320" y="4572000"/>
            <a:ext cx="3013862" cy="420624"/>
          </a:xfrm>
          <a:prstGeom prst="roundRect">
            <a:avLst>
              <a:gd name="adj" fmla="val 50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1417320" y="4572000"/>
            <a:ext cx="301386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Presenta: Lic. Ignacio Andrade Salazar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14062" y="4572000"/>
            <a:ext cx="338876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4614062" y="4572000"/>
            <a:ext cx="338876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Director: Dr. Rodolfo Omar Domínguez García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85709" y="4572000"/>
            <a:ext cx="331378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8185709" y="4572000"/>
            <a:ext cx="331378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Codirector: Dr. Salvador Cervantes Álvarez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828800" y="52578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1938528" y="5385816"/>
            <a:ext cx="658368" cy="658368"/>
          </a:xfrm>
          <a:prstGeom prst="ellipse">
            <a:avLst/>
          </a:prstGeom>
          <a:solidFill>
            <a:srgbClr val="FCEDE1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C:\Users\Nacho Andrade\Documents\Claude\Projects\Tesis Nacho\Presentacion_Avances\assets\leo_saludo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56816" y="5404104"/>
            <a:ext cx="621792" cy="6217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24912" y="5349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F26B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Oye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EcoFlow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¿qué vamos a ver hoy en estos avances?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52578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7"/>
          <p:cNvSpPr/>
          <p:nvPr/>
        </p:nvSpPr>
        <p:spPr>
          <a:xfrm>
            <a:off x="6419088" y="5385816"/>
            <a:ext cx="658368" cy="658368"/>
          </a:xfrm>
          <a:prstGeom prst="ellipse">
            <a:avLst/>
          </a:prstGeom>
          <a:solidFill>
            <a:srgbClr val="E7F6F8"/>
          </a:solidFill>
          <a:ln w="12700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3" name="Image 3" descr="C:\Users\Nacho Andrade\Documents\Claude\Projects\Tesis Nacho\Presentacion_Avances\assets\ecoflow_idl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44966" y="5402356"/>
            <a:ext cx="506121" cy="607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05472" y="5349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A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EcoFlow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¡El problema, los objetivos, el estado del arte y la propuesta del sistema! 🌎</a:t>
            </a:r>
            <a:endParaRPr lang="en-US" sz="11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344DE79-0BF5-6AE9-93B5-AEBAF3E9A2D8}"/>
              </a:ext>
            </a:extLst>
          </p:cNvPr>
          <p:cNvSpPr txBox="1"/>
          <p:nvPr/>
        </p:nvSpPr>
        <p:spPr>
          <a:xfrm>
            <a:off x="6309360" y="6331789"/>
            <a:ext cx="5672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linkClick r:id="rId7"/>
              </a:rPr>
              <a:t>https://minato97.github.io/presentacion_tesis_2/#1</a:t>
            </a:r>
            <a:r>
              <a:rPr lang="es-MX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AVANCES · 2.º SEMESTRE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voy a presentar hoy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67512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67512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188366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Problema y justificación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2978" y="173736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487570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48757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2786" y="188366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Objetivos y alcance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43037" y="173736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07629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07629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92845" y="188366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Marco teórico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06324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67512" y="32278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67512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2728" y="320954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Estado del arte (RSL)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22978" y="306324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487570" y="32278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487570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72786" y="320954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Metodología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43037" y="306324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8307629" y="32278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D0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8307629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92845" y="320954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Avances de la propuesta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438912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667512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D0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67512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2728" y="453542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· Atención a observaciones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22978" y="438912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4487570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4F5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48757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72786" y="453542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· Retribución social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43037" y="4389120"/>
            <a:ext cx="354573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8307629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4F5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8307629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92845" y="453542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· Cronograma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00800" y="5989320"/>
            <a:ext cx="5212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6510528" y="6025896"/>
            <a:ext cx="658368" cy="658368"/>
          </a:xfrm>
          <a:prstGeom prst="ellipse">
            <a:avLst/>
          </a:prstGeom>
          <a:solidFill>
            <a:srgbClr val="FCEDE1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4" name="Image 0" descr="C:\Users\Nacho Andrade\Documents\Claude\Projects\Tesis Nacho\Presentacion_Avances\assets\leo_salud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8816" y="6044184"/>
            <a:ext cx="621792" cy="62179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7296912" y="6080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F26B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Soy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el león de la UDG. Te guío por cada punto en ~10 minutos.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PLANTEAMIENTO DEL PROBLEMA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datos ambientales… pero son difíciles de entender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✓"/>
            </a:pP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</a:t>
            </a:r>
            <a:r>
              <a:rPr lang="en-US" sz="14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nodos IoT</a:t>
            </a: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generan datos técnicos: valores, unidades, umbrales y series temporales.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Interpretarlos exige </a:t>
            </a:r>
            <a:r>
              <a:rPr lang="en-US" sz="14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conocimiento especializado</a:t>
            </a: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Resultado: </a:t>
            </a:r>
            <a:r>
              <a:rPr lang="en-US" sz="14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inaccesibles</a:t>
            </a: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usuarios no expertos de la Región Valles.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Además, los datos están </a:t>
            </a:r>
            <a:r>
              <a:rPr lang="en-US" sz="14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dispersos</a:t>
            </a: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en formatos poco aprovechables.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830568" y="2002536"/>
            <a:ext cx="658368" cy="658368"/>
          </a:xfrm>
          <a:prstGeom prst="ellipse">
            <a:avLst/>
          </a:prstGeom>
          <a:solidFill>
            <a:srgbClr val="FCEDE1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0" descr="C:\Users\Nacho Andrade\Documents\Claude\Projects\Tesis Nacho\Presentacion_Avances\assets\leo_salud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48856" y="2020824"/>
            <a:ext cx="621792" cy="6217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16952" y="1920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F26B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Oye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EcoFlow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¿por qué es un problema un dato como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“420 ppm de CO₂”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20840" y="2971800"/>
            <a:ext cx="4937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875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830568" y="3214116"/>
            <a:ext cx="658368" cy="658368"/>
          </a:xfrm>
          <a:prstGeom prst="ellipse">
            <a:avLst/>
          </a:prstGeom>
          <a:solidFill>
            <a:srgbClr val="E7F6F8"/>
          </a:solidFill>
          <a:ln w="12700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1" descr="C:\Users\Nacho Andrade\Documents\Claude\Projects\Tesis Nacho\Presentacion_Avances\assets\ecoflow_id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66108" y="3226084"/>
            <a:ext cx="493776" cy="6281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16952" y="30632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A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EcoFlow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ese número no le dice nada a la mayoría…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traducirlo a algo claro es justo lo que resuelvo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5029200"/>
            <a:ext cx="11185855" cy="914400"/>
          </a:xfrm>
          <a:prstGeom prst="roundRect">
            <a:avLst>
              <a:gd name="adj" fmla="val 10000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777240" y="502920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Brecha:  </a:t>
            </a:r>
            <a:r>
              <a:rPr lang="en-US" sz="15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 una capa que traduzca el dato técnico a </a:t>
            </a:r>
            <a:r>
              <a:rPr lang="en-US" sz="15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lenguaje natural comprensible</a:t>
            </a:r>
            <a:r>
              <a:rPr lang="en-US" sz="15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JUSTIFICACIÓN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Democratizar el acceso a la información ambiental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59072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67512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6751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1975104"/>
            <a:ext cx="17037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560320"/>
            <a:ext cx="21883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e interpretar datos en lenguaje natural (LLM + MCP).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7964" y="1828800"/>
            <a:ext cx="259072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532556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532556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7772" y="1975104"/>
            <a:ext cx="17037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9132" y="2560320"/>
            <a:ext cx="21883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Tablas, tarjetas y gráficos dinámicos para el análisis científico.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1828800"/>
            <a:ext cx="259072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397600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39760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2816" y="1975104"/>
            <a:ext cx="17037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34176" y="2560320"/>
            <a:ext cx="21883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Administrar nodos IoT, sensores y usuarios en un solo lugar.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051" y="1828800"/>
            <a:ext cx="259072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9262643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9262643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47859" y="1975104"/>
            <a:ext cx="17037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99219" y="2560320"/>
            <a:ext cx="21883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escalable y replicable en otras regiones.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480560"/>
            <a:ext cx="11185855" cy="1371600"/>
          </a:xfrm>
          <a:prstGeom prst="roundRect">
            <a:avLst>
              <a:gd name="adj" fmla="val 6667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777240" y="4480560"/>
            <a:ext cx="106372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Fortalece la </a:t>
            </a:r>
            <a:r>
              <a:rPr lang="en-US" sz="15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investigación, docencia y planeación ambiental</a:t>
            </a:r>
            <a:r>
              <a:rPr lang="en-US" sz="15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CUValles y la Región Valles, impulsando la </a:t>
            </a:r>
            <a:r>
              <a:rPr lang="en-US" sz="15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transformación digital</a:t>
            </a:r>
            <a:r>
              <a:rPr lang="en-US" sz="15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gestión medioambiental.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· ALCANCE · LÍMITES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8585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5D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Objetivo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Desarrollar y evaluar una </a:t>
            </a:r>
            <a:r>
              <a:rPr lang="en-US" sz="12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</a:t>
            </a:r>
            <a:r>
              <a:rPr lang="en-US" sz="12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integra un </a:t>
            </a:r>
            <a:r>
              <a:rPr lang="en-US" sz="12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Inteligente</a:t>
            </a:r>
            <a:r>
              <a:rPr lang="en-US" sz="12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(MCP + LLM) para facilitar el acceso, gestión y comprensión de los datos de los nodos IoT del SMMyE a usuarios con distintos niveles de conocimiento.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67512" y="2679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6751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2728" y="266090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OE1 · Requerimientos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" y="3246120"/>
            <a:ext cx="314340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ERS funcional y no funcional.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2978" y="25146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487570" y="2679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48757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2786" y="266090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OE2 · Arquitectura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24146" y="3246120"/>
            <a:ext cx="314340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Componentes, datos e interfaces.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43037" y="25146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8307629" y="2679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307629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2845" y="266090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OE3 · Plataforma + API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44205" y="3246120"/>
            <a:ext cx="314340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Ingesta, visualización y administración.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38912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67512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67512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52728" y="453542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OE4 · MCP + chat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4088" y="5120640"/>
            <a:ext cx="314340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conversacional (≥85% consultas).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22978" y="438912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4487570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48757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72786" y="453542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OE5 · Evaluación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4146" y="5120640"/>
            <a:ext cx="314340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≥ 70 · 80% interpreta bien.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43037" y="438912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8307629" y="4553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4F5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8307629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92845" y="453542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/ límites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44205" y="5120640"/>
            <a:ext cx="314340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Sí:</a:t>
            </a: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recibir, visualizar e interpretar.  </a:t>
            </a:r>
            <a:r>
              <a:rPr lang="en-US" sz="10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No:</a:t>
            </a: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controlar hardware, predecir ni notificar.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TEÓRICO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conceptos que sostienen la propuesta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67512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67512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188366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y redes de sensores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246888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Nodos que miden aire, clima y suelo y publican lecturas.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978" y="173736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487570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48757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2786" y="188366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4146" y="246888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de lenguaje que interpretan y responden.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43037" y="173736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307629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307629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2845" y="188366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 inteligentes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44205" y="246888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Deciden qué herramienta usar para resolver la consulta.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67512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D0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67512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52728" y="352958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(Anthropic, 2024)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088" y="411480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Protocolo que estandariza el acceso del LLM a los datos.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22978" y="338328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48757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48757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2786" y="352958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24146" y="411480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Respuestas basadas en datos reales recuperados.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43037" y="338328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8307629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8307629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92845" y="352958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DCU · ISO 9241-210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44205" y="411480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centrado en el usuario, interfaces accesibles.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4983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tecnológica: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514600" y="502920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2514600" y="5029200"/>
            <a:ext cx="106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67328" y="5029200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3767328" y="5029200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Vue.js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19472" y="502920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919472" y="5029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71032" y="5029200"/>
            <a:ext cx="667512" cy="384048"/>
          </a:xfrm>
          <a:prstGeom prst="roundRect">
            <a:avLst>
              <a:gd name="adj" fmla="val 50000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5971032" y="5029200"/>
            <a:ext cx="667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21424" y="5029200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6821424" y="5029200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DEL ARTE · PREGUNTAS DE INVESTIGACIÓN Y CADENA DE BÚSQUEDA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las preguntas… luego la búsqueda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 + LLM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interpretar datos ambientales vs. interfaces tradicionales.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Ventajas del </a:t>
            </a: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integrar datos </a:t>
            </a: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heterogéneos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1821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centrado en el usuario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(UCD) y experiencia de usuario.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58768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85876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Context-awareness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personalizar servicios.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535424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02920" y="453542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53542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</a:t>
            </a: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precisión en datos científicos.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5287975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7780">
            <a:solidFill>
              <a:srgbClr val="5A72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629400" y="1965960"/>
            <a:ext cx="4830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Cadena de búsqueda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2331720"/>
            <a:ext cx="4830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Scopus · IEEE Xplore · Web of Science (mayo 2026).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grupos PICO,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sinónimos.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2926080"/>
            <a:ext cx="4830775" cy="713232"/>
          </a:xfrm>
          <a:prstGeom prst="roundRect">
            <a:avLst>
              <a:gd name="adj" fmla="val 8974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766560" y="2926080"/>
            <a:ext cx="45564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Dominio  </a:t>
            </a: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"environmental monitoring" OR "soil monitoring" OR "IoT" OR "sensor network*"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29400" y="3621024"/>
            <a:ext cx="4830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9400" y="3840480"/>
            <a:ext cx="4830775" cy="713232"/>
          </a:xfrm>
          <a:prstGeom prst="roundRect">
            <a:avLst>
              <a:gd name="adj" fmla="val 8974"/>
            </a:avLst>
          </a:prstGeom>
          <a:solidFill>
            <a:srgbClr val="FCEDE1"/>
          </a:solidFill>
          <a:ln w="12700">
            <a:solidFill>
              <a:srgbClr val="E85D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766560" y="3840480"/>
            <a:ext cx="45564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  </a:t>
            </a: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"Model Context Protocol" OR "MCP" OR "AI agent*" OR "LLM" OR "RAG" OR "conversational AI"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29400" y="4535424"/>
            <a:ext cx="4830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4754880"/>
            <a:ext cx="4830775" cy="713232"/>
          </a:xfrm>
          <a:prstGeom prst="roundRect">
            <a:avLst>
              <a:gd name="adj" fmla="val 8974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766560" y="4754880"/>
            <a:ext cx="45564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 </a:t>
            </a: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"user experience" OR "usability" OR "user-centered design" OR "context-aware*" OR "non-expert user*"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632764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502920" y="6327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6327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término emergente (Anthropic, 2024): central para RQ2 y diferenciador de esta revisión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DEL ARTE · REVISIÓN SISTEMÁTICA DE LITERATURA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con método: PICO + PRISMA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✓"/>
            </a:pPr>
            <a:r>
              <a:rPr lang="en-US" sz="13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PICO</a:t>
            </a: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definió qué buscar; </a:t>
            </a:r>
            <a:r>
              <a:rPr lang="en-US" sz="13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</a:t>
            </a: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cómo filtrar.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Fuentes: </a:t>
            </a:r>
            <a:r>
              <a:rPr lang="en-US" sz="13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Scopus · IEEE Xplore · Web of Science</a:t>
            </a: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(mayo 2026).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r>
              <a:rPr lang="en-US" sz="13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cribado</a:t>
            </a: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hizo por </a:t>
            </a:r>
            <a:r>
              <a:rPr lang="en-US" sz="13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título y resumen</a:t>
            </a: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solo los elegibles se leyeron a texto completo.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3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fases: identificación → cribado → elegibilidad → inclusión.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AAC27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Identificados   </a:t>
            </a: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0" y="243230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− 66 duplicados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2761488"/>
            <a:ext cx="4482389" cy="548640"/>
          </a:xfrm>
          <a:prstGeom prst="roundRect">
            <a:avLst>
              <a:gd name="adj" fmla="val 10000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629400" y="2761488"/>
            <a:ext cx="42995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Cribados · título y resumen   </a:t>
            </a: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417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33649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− 381 excluidos por título y resumen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3694176"/>
            <a:ext cx="3752698" cy="548640"/>
          </a:xfrm>
          <a:prstGeom prst="roundRect">
            <a:avLst>
              <a:gd name="adj" fmla="val 10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629400" y="3694176"/>
            <a:ext cx="35698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Leídos a texto completo   </a:t>
            </a: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42976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− 15 excluidos tras la lectura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4626864"/>
            <a:ext cx="3023006" cy="548640"/>
          </a:xfrm>
          <a:prstGeom prst="roundRect">
            <a:avLst>
              <a:gd name="adj" fmla="val 10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629400" y="4626864"/>
            <a:ext cx="28401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Incluidos ✓   </a:t>
            </a: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632764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02920" y="6327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estudios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6327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empírica de las decisiones de diseño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DEL ARTE · HALLAZGOS Y BRECHA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preguntas de investigación → 1 brecha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1911096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E3E8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325880" y="1911096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40680" y="18745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865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2423160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E3E8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1325880" y="2423160"/>
            <a:ext cx="2130014" cy="310896"/>
          </a:xfrm>
          <a:prstGeom prst="roundRect">
            <a:avLst>
              <a:gd name="adj" fmla="val 14706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440680" y="23865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986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25880" y="2935224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E3E8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325880" y="2935224"/>
            <a:ext cx="3313355" cy="310896"/>
          </a:xfrm>
          <a:prstGeom prst="roundRect">
            <a:avLst>
              <a:gd name="adj" fmla="val 14706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40680" y="28986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1071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25880" y="3447288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E3E8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1325880" y="3447288"/>
            <a:ext cx="3550024" cy="310896"/>
          </a:xfrm>
          <a:prstGeom prst="roundRect">
            <a:avLst>
              <a:gd name="adj" fmla="val 14706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40680" y="34107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92277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25880" y="3959352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E3E8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1325880" y="3959352"/>
            <a:ext cx="3076687" cy="310896"/>
          </a:xfrm>
          <a:prstGeom prst="roundRect">
            <a:avLst>
              <a:gd name="adj" fmla="val 14706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440680" y="39227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5262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Estudios que aportan a cada pregunta (n=21). RQ3 = </a:t>
            </a:r>
            <a:r>
              <a:rPr lang="en-US" sz="11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DCU</a:t>
            </a:r>
            <a:r>
              <a:rPr lang="en-US" sz="1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aunque aparece en 14 estudios, casi siempre de forma </a:t>
            </a:r>
            <a:r>
              <a:rPr lang="en-US" sz="11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tangencial</a:t>
            </a:r>
            <a:r>
              <a:rPr lang="en-US" sz="1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(sin evaluación con usuarios reales); es la dimensión </a:t>
            </a:r>
            <a:r>
              <a:rPr lang="en-US" sz="11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desarrollada en profundidad</a:t>
            </a:r>
            <a:r>
              <a:rPr lang="en-US" sz="1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18288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✓"/>
            </a:pPr>
            <a:r>
              <a:rPr lang="en-US" sz="13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r>
              <a:rPr lang="en-US" sz="13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condición necesaria para precisión factual.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3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r>
              <a:rPr lang="en-US" sz="13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estandariza el acceso a datos IoT heterogéneos.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3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r>
              <a:rPr lang="en-US" sz="13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 de usuario</a:t>
            </a:r>
            <a:r>
              <a:rPr lang="en-US" sz="13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asignatura pendiente.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352044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5D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784848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 Brecha identificada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40690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Ningún estudio combina </a:t>
            </a:r>
            <a:r>
              <a:rPr lang="en-US" sz="125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LLM + datos edafológicos vía MCP + diseño centrado en el usuario</a:t>
            </a:r>
            <a:r>
              <a:rPr lang="en-US" sz="12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Esa convergencia, en la Región Valles, es la </a:t>
            </a:r>
            <a:r>
              <a:rPr lang="en-US" sz="125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contribución original</a:t>
            </a:r>
            <a:r>
              <a:rPr lang="en-US" sz="12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METODOLOGÍA DE INVESTIGACIÓN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Science Research (Investigación en Ciencias del Diseño) como marco general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711909" cy="914400"/>
          </a:xfrm>
          <a:prstGeom prst="roundRect">
            <a:avLst>
              <a:gd name="adj" fmla="val 8000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711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" y="1929384"/>
            <a:ext cx="160218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 y motivación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97709" y="1600200"/>
            <a:ext cx="1711909" cy="914400"/>
          </a:xfrm>
          <a:prstGeom prst="roundRect">
            <a:avLst>
              <a:gd name="adj" fmla="val 8000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397709" y="1691640"/>
            <a:ext cx="1711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2573" y="1929384"/>
            <a:ext cx="160218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 la solución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2498" y="1600200"/>
            <a:ext cx="1711909" cy="914400"/>
          </a:xfrm>
          <a:prstGeom prst="roundRect">
            <a:avLst>
              <a:gd name="adj" fmla="val 8000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292498" y="1691640"/>
            <a:ext cx="1711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7362" y="1929384"/>
            <a:ext cx="160218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y desarrollo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7288" y="1600200"/>
            <a:ext cx="1711909" cy="914400"/>
          </a:xfrm>
          <a:prstGeom prst="roundRect">
            <a:avLst>
              <a:gd name="adj" fmla="val 8000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187288" y="1691640"/>
            <a:ext cx="1711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42152" y="1929384"/>
            <a:ext cx="160218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82077" y="1600200"/>
            <a:ext cx="1711909" cy="914400"/>
          </a:xfrm>
          <a:prstGeom prst="roundRect">
            <a:avLst>
              <a:gd name="adj" fmla="val 8000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082077" y="1691640"/>
            <a:ext cx="1711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6941" y="1929384"/>
            <a:ext cx="160218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976866" y="1600200"/>
            <a:ext cx="1711909" cy="914400"/>
          </a:xfrm>
          <a:prstGeom prst="roundRect">
            <a:avLst>
              <a:gd name="adj" fmla="val 8000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9976866" y="1691640"/>
            <a:ext cx="1711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31730" y="1929384"/>
            <a:ext cx="160218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metodologías anidadas dentro del DSR (Peffers et al., 2007):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15468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" y="3319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67512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2728" y="330098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RSL · PICO + PRISMA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388620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Fases 1–2: fundamenta el problema y los objetivos.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22978" y="315468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487570" y="3319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D0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48757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72786" y="330098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Prototipado evolutivo (Sommerville, 2011)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24146" y="388620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3: baja fidelidad → funcional → sistema final.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43037" y="315468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0"/>
            </a:solidFill>
            <a:prstDash val="solid"/>
          </a:ln>
          <a:effectLst>
            <a:outerShdw blurRad="76200" dist="25400" dir="5400000" algn="bl" rotWithShape="0">
              <a:srgbClr val="B9C3A8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8307629" y="3319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8307629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92845" y="3300984"/>
            <a:ext cx="265877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DCU · ISO 9241-210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44205" y="3886200"/>
            <a:ext cx="314340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Fases 4–5: evaluación iterativa con usuarios reales.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709160"/>
            <a:ext cx="11185855" cy="1325880"/>
          </a:xfrm>
          <a:prstGeom prst="roundRect">
            <a:avLst>
              <a:gd name="adj" fmla="val 6897"/>
            </a:avLst>
          </a:prstGeom>
          <a:solidFill>
            <a:srgbClr val="F6F8F0"/>
          </a:solidFill>
          <a:ln w="1270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777240" y="4709160"/>
            <a:ext cx="1063721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prototipado evolutivo?  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requerimientos no se conocen por completo de inicio y los usuarios finales son productores no expertos: construir sobre un prototipo que se refina con su retroalimentación reduce el riesgo y valida cada incremento antes de invertir en el sistema final, frente a un modelo en cascada de requisitos cerrados.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AVANCES DE LA PROPUESTA · ARQUITECTURA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capas desacopladas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780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09728" cy="713232"/>
          </a:xfrm>
          <a:prstGeom prst="roundRect">
            <a:avLst/>
          </a:prstGeom>
          <a:solidFill>
            <a:srgbClr val="1FAFB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Adquisición — Hardware IoT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Nodos (ESP32) con sensores de aire, clima y suelo · identificados por MAC.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3865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/api/guardarMuestras (JWT)  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780">
            <a:solidFill>
              <a:srgbClr val="7D9A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109728" cy="713232"/>
          </a:xfrm>
          <a:prstGeom prst="roundRect">
            <a:avLst/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77240" y="2642616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/ Lógica de negocio — Laravel 10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Autenticación JWT · ingesta · CRUD · estadísticas y comparativas.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59359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780">
            <a:solidFill>
              <a:srgbClr val="5A72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02920" y="3593592"/>
            <a:ext cx="109728" cy="713232"/>
          </a:xfrm>
          <a:prstGeom prst="roundRect">
            <a:avLst/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77240" y="3593592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— MySQL 8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Áreas, nodos IoT, sensores, armados, muestras, usuarios y roles.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28853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REST /api (Axios + JWT)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54456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780">
            <a:solidFill>
              <a:srgbClr val="3F4F5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02920" y="4544568"/>
            <a:ext cx="109728" cy="713232"/>
          </a:xfrm>
          <a:prstGeom prst="roundRect">
            <a:avLst/>
          </a:prstGeom>
          <a:solidFill>
            <a:srgbClr val="3F4F5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77240" y="4544568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 — SPA Vue 3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en tiempo real · estadísticas · administración · reportes PDF.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2395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◀ ▶ widget de chat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54955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780">
            <a:solidFill>
              <a:srgbClr val="E85D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02920" y="5495544"/>
            <a:ext cx="109728" cy="713232"/>
          </a:xfrm>
          <a:prstGeom prst="roundRect">
            <a:avLst/>
          </a:prstGeom>
          <a:solidFill>
            <a:srgbClr val="E85D0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77240" y="5495544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Inteligencia conversacional — EcoFlow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 orquesta · servidor MCP (solo lectura) · LLM en la nube.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0" y="393192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8796528" y="4334256"/>
            <a:ext cx="658368" cy="658368"/>
          </a:xfrm>
          <a:prstGeom prst="ellipse">
            <a:avLst/>
          </a:prstGeom>
          <a:solidFill>
            <a:srgbClr val="E7F6F8"/>
          </a:solidFill>
          <a:ln w="12700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0" descr="C:\Users\Nacho Andrade\Documents\Claude\Projects\Tesis Nacho\Presentacion_Avances\assets\ecoflow_id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32068" y="4371694"/>
            <a:ext cx="510339" cy="58538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582912" y="40233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A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EcoFlow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¡Yo vivo en la capa 5! Traduzco tus preguntas y consulto los datos por </a:t>
            </a:r>
            <a:r>
              <a:rPr lang="en-US" sz="11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ELEMENTOS DE SOFTWARE Y HARDWARE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stack y los sensores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6510">
            <a:solidFill>
              <a:srgbClr val="5A72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 Software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04288"/>
          <a:ext cx="4800600" cy="2194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Tecnología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4F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PHP 8.2 · Laravel 10 · JWT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4F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MySQL 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4F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 3 · Vite · Pinia · Chart.js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4F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n8n · servidor MCP · LLM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4F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 · Nginx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737360"/>
            <a:ext cx="5425135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6510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492240" y="1874520"/>
            <a:ext cx="4967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 Hardware — nodos IoT (ESP32)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92240" y="2286000"/>
            <a:ext cx="4967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sensores en 4 dominios. Cada uno con umbrales bajo / medio / alto.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2788920"/>
            <a:ext cx="4967935" cy="402336"/>
          </a:xfrm>
          <a:prstGeom prst="roundRect">
            <a:avLst>
              <a:gd name="adj" fmla="val 22727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10"/>
          <p:cNvSpPr/>
          <p:nvPr/>
        </p:nvSpPr>
        <p:spPr>
          <a:xfrm>
            <a:off x="6647688" y="2788920"/>
            <a:ext cx="469361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Aire: DHT11 · BMP280 · PMS5003 · MH-Z16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92240" y="3246120"/>
            <a:ext cx="4967935" cy="402336"/>
          </a:xfrm>
          <a:prstGeom prst="roundRect">
            <a:avLst>
              <a:gd name="adj" fmla="val 22727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6647688" y="3246120"/>
            <a:ext cx="469361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Radiación: GUVA · BH1750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92240" y="3703320"/>
            <a:ext cx="4967935" cy="402336"/>
          </a:xfrm>
          <a:prstGeom prst="roundRect">
            <a:avLst>
              <a:gd name="adj" fmla="val 22727"/>
            </a:avLst>
          </a:prstGeom>
          <a:solidFill>
            <a:srgbClr val="EAF0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6647688" y="3703320"/>
            <a:ext cx="469361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Clima: pluviómetro · anemómetro · veleta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92240" y="4160520"/>
            <a:ext cx="4967935" cy="402336"/>
          </a:xfrm>
          <a:prstGeom prst="roundRect">
            <a:avLst>
              <a:gd name="adj" fmla="val 22727"/>
            </a:avLst>
          </a:prstGeom>
          <a:solidFill>
            <a:srgbClr val="FCEDE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6647688" y="4160520"/>
            <a:ext cx="469361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Suelo (NPK): JXBS-3001 N·P·K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868680" y="5513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4200" dirty="0"/>
          </a:p>
        </p:txBody>
      </p:sp>
      <p:sp>
        <p:nvSpPr>
          <p:cNvPr id="23" name="Text 20"/>
          <p:cNvSpPr/>
          <p:nvPr/>
        </p:nvSpPr>
        <p:spPr>
          <a:xfrm>
            <a:off x="3657600" y="5513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dominios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4652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200" dirty="0"/>
          </a:p>
        </p:txBody>
      </p:sp>
      <p:sp>
        <p:nvSpPr>
          <p:cNvPr id="25" name="Text 22"/>
          <p:cNvSpPr/>
          <p:nvPr/>
        </p:nvSpPr>
        <p:spPr>
          <a:xfrm>
            <a:off x="6446520" y="5513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23544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4200" dirty="0"/>
          </a:p>
        </p:txBody>
      </p:sp>
      <p:sp>
        <p:nvSpPr>
          <p:cNvPr id="27" name="Text 24"/>
          <p:cNvSpPr/>
          <p:nvPr/>
        </p:nvSpPr>
        <p:spPr>
          <a:xfrm>
            <a:off x="9235440" y="5513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MCP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REQUERIMIENTOS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funcionales · 9 no funcionales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01168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Funcionales (RF)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84632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funcionales (RNF)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68096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545576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5A72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Funcionales (muestra)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49071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RF-03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Recibir y almacenar muestras de los nodos.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RF-08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Monitoreo en tiempo real con umbrales.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RF-09/10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Estadísticas y comparativas entre nodos.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RF-14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Consulta en lenguaje natural (LLM + MCP).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3017520"/>
            <a:ext cx="545576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85D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61608" y="3154680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5D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No funcionales (muestra)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07328" y="3611880"/>
            <a:ext cx="49071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RNF-01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API protegida con JWT.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RNF-02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Roles: Admin · Normal · Invitado.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RNF-03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Interfaz responsiva (móvil → 4K).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2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RNF-09</a:t>
            </a:r>
            <a:r>
              <a:rPr lang="en-US" sz="12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IA accede solo vía MCP (solo lectura).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632764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02920" y="6327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6327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requerimiento ↔ componente (matriz en anexos)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· REVISIÓN DEL PROTOCOLO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a las observaciones del protocolo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Correcciones al documento de protocolo, incorporadas en el manuscrito de este semestre.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3112" cy="191262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Observación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atendió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título era demasiado extenso.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reformuló el título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para precisar el alcance: monitoreo medioambiental y edafológico + agente inteligente para la interpretación de datos.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Faltaba contextualizar qué sistemas similares existen y el punto de partida del proyecto.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amplió la justificación: se exponen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sistemas existentes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su oferta, y se aclara que el proyecto parte de un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nodo prototipo en CUValles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para escalar a la Región Valles.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se definían los beneficiarios ni con ejemplos del lenguaje técnico.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especificaron los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usuarios objetivo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(agricultores, ganaderos, biólogos, ecologistas, gobierno, protección civil) y se añadieron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ejemplos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del dato técnico y su interpretación.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Redacción contradictoria sobre el público (¿sin o con formación técnica?).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corrigió: el sistema apoya a usuarios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formación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técnica y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también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especialistas.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la RSL convenía apegarse mejor al estándar PRISMA.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siguió el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checklist PRISMA 2020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se integraron las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referencias metodológicas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recomendadas.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· SEMINARIO 1.ER SEMESTRE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a las observaciones del seminario anterior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observación recibida en el seminario anterior fue atendida en el manuscrito de este semestre.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3112" cy="191262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Observación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atendió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Frases muy largas y redacción que mezcla lo hecho con lo planeado.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Frases divididas a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máx. 2–3 renglones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descripción reescrita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futuro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distinguiendo lo realizado de lo planeado.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Objetivo general extenso; objetivos específicos parecían requerimientos.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Objetivo general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más compacto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objetivos específicos reformulados con criterios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SMART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separados de los requerimientos.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Abreviaturas repetidas (LLM, RAG…) y traducción de RAG inconsistente.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Abreviaturas definidas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solo en su primera aparición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traducción de RAG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homogeneizada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PRISMA, la cadena de búsqueda se generaba antes que las preguntas.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preguntas de investigación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se definen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antes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construir la cadena de búsqueda.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Sobra la definición en alcances/limitaciones; y columnas repetidas en el cronograma.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8C3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quitaron las definiciones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alcances y limitaciones y se </a:t>
                      </a:r>
                      <a:r>
                        <a:rPr lang="en-US" sz="1050" b="1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simplificó el cronograma</a:t>
                      </a:r>
                      <a:r>
                        <a:rPr lang="en-US" sz="1050" dirty="0">
                          <a:solidFill>
                            <a:srgbClr val="2A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RETRIBUCIÓN SOCIAL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Retribución social del semestre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80">
            <a:solidFill>
              <a:srgbClr val="5A72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468880" y="214884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4688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SGPI · periodo 2026A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03120" y="37033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D8C3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103120" y="3703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para la Gestión de Proyectos de Investigación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0" y="201168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✓"/>
            </a:pP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Colaboración en el proyecto </a:t>
            </a:r>
            <a:r>
              <a:rPr lang="en-US" sz="14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para la Gestión de Proyectos de Investigación (SGPI)</a:t>
            </a: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durante el </a:t>
            </a:r>
            <a:r>
              <a:rPr lang="en-US" sz="14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periodo 2026A</a:t>
            </a: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Aporte en ingeniería de software al desarrollo del SGPI, aplicando los conocimientos de la maestría.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buSzPct val="100000"/>
              <a:buChar char="✓"/>
            </a:pP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3.er semestre: planeación de </a:t>
            </a:r>
            <a:r>
              <a:rPr lang="en-US" sz="1400" b="1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créditos de movilidad</a:t>
            </a:r>
            <a:r>
              <a:rPr lang="en-US" sz="14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carta de invitación.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CRONOGRAMA DE ACTIVIDADES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trabajo · cuatro semestres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septiembre 2025 a septiembre 2027.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947672"/>
            <a:ext cx="1973504" cy="274320"/>
          </a:xfrm>
          <a:prstGeom prst="rect">
            <a:avLst/>
          </a:prstGeom>
          <a:solidFill>
            <a:srgbClr val="F6F8F0"/>
          </a:solidFill>
          <a:ln w="635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794760" y="1947672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1.º sem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8264" y="1947672"/>
            <a:ext cx="1973504" cy="274320"/>
          </a:xfrm>
          <a:prstGeom prst="rect">
            <a:avLst/>
          </a:prstGeom>
          <a:solidFill>
            <a:srgbClr val="E8E0CF"/>
          </a:solidFill>
          <a:ln w="635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768264" y="1947672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2.º sem (actual)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41768" y="1947672"/>
            <a:ext cx="1973504" cy="274320"/>
          </a:xfrm>
          <a:prstGeom prst="rect">
            <a:avLst/>
          </a:prstGeom>
          <a:solidFill>
            <a:srgbClr val="F6F8F0"/>
          </a:solidFill>
          <a:ln w="635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741768" y="1947672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3.º sem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15271" y="1947672"/>
            <a:ext cx="1973504" cy="274320"/>
          </a:xfrm>
          <a:prstGeom prst="rect">
            <a:avLst/>
          </a:prstGeom>
          <a:solidFill>
            <a:srgbClr val="F6F8F0"/>
          </a:solidFill>
          <a:ln w="6350">
            <a:solidFill>
              <a:srgbClr val="DDE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715271" y="1947672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4.º sem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240280"/>
            <a:ext cx="11185855" cy="301752"/>
          </a:xfrm>
          <a:prstGeom prst="rect">
            <a:avLst/>
          </a:prstGeom>
          <a:solidFill>
            <a:srgbClr val="F2F5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02920" y="224028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Protocolo, anteproyecto y RSL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94760" y="2295144"/>
            <a:ext cx="1641955" cy="192024"/>
          </a:xfrm>
          <a:prstGeom prst="roundRect">
            <a:avLst>
              <a:gd name="adj" fmla="val 19048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02920" y="254203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1.ª presentación de avances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81512" y="2596896"/>
            <a:ext cx="331549" cy="192024"/>
          </a:xfrm>
          <a:prstGeom prst="roundRect">
            <a:avLst>
              <a:gd name="adj" fmla="val 19048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502920" y="2843784"/>
            <a:ext cx="11185855" cy="301752"/>
          </a:xfrm>
          <a:prstGeom prst="rect">
            <a:avLst/>
          </a:prstGeom>
          <a:solidFill>
            <a:srgbClr val="F2F5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02920" y="284378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Redacción de tesis · parte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36715" y="2898648"/>
            <a:ext cx="331549" cy="192024"/>
          </a:xfrm>
          <a:prstGeom prst="roundRect">
            <a:avLst>
              <a:gd name="adj" fmla="val 19048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Capacitación MCP y elicitación de req.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8264" y="3200400"/>
            <a:ext cx="655203" cy="192024"/>
          </a:xfrm>
          <a:prstGeom prst="roundRect">
            <a:avLst>
              <a:gd name="adj" fmla="val 19048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502920" y="3447288"/>
            <a:ext cx="11185855" cy="301752"/>
          </a:xfrm>
          <a:prstGeom prst="rect">
            <a:avLst/>
          </a:prstGeom>
          <a:solidFill>
            <a:srgbClr val="F2F5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02920" y="344728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y diseño del software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23467" y="3502152"/>
            <a:ext cx="655203" cy="192024"/>
          </a:xfrm>
          <a:prstGeom prst="roundRect">
            <a:avLst>
              <a:gd name="adj" fmla="val 19048"/>
            </a:avLst>
          </a:prstGeom>
          <a:solidFill>
            <a:srgbClr val="F26B1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02920" y="374904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2.ª presentación de avances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86564" y="3803904"/>
            <a:ext cx="331549" cy="192024"/>
          </a:xfrm>
          <a:prstGeom prst="roundRect">
            <a:avLst>
              <a:gd name="adj" fmla="val 19048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502920" y="4050792"/>
            <a:ext cx="11185855" cy="301752"/>
          </a:xfrm>
          <a:prstGeom prst="rect">
            <a:avLst/>
          </a:prstGeom>
          <a:solidFill>
            <a:srgbClr val="F2F5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502920" y="40507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 de software (back y front)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86564" y="4105656"/>
            <a:ext cx="655203" cy="192024"/>
          </a:xfrm>
          <a:prstGeom prst="roundRect">
            <a:avLst>
              <a:gd name="adj" fmla="val 19048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502920" y="435254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y redacción · parte 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41768" y="4407408"/>
            <a:ext cx="986752" cy="192024"/>
          </a:xfrm>
          <a:prstGeom prst="roundRect">
            <a:avLst>
              <a:gd name="adj" fmla="val 19048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502920" y="4654296"/>
            <a:ext cx="11185855" cy="301752"/>
          </a:xfrm>
          <a:prstGeom prst="rect">
            <a:avLst/>
          </a:prstGeom>
          <a:solidFill>
            <a:srgbClr val="F2F5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02920" y="4654296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3.ª presentación y despliegue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728520" y="4709160"/>
            <a:ext cx="986752" cy="192024"/>
          </a:xfrm>
          <a:prstGeom prst="roundRect">
            <a:avLst>
              <a:gd name="adj" fmla="val 19048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502920" y="495604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y validaciones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715271" y="5010912"/>
            <a:ext cx="655203" cy="192024"/>
          </a:xfrm>
          <a:prstGeom prst="roundRect">
            <a:avLst>
              <a:gd name="adj" fmla="val 19048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502920" y="5257800"/>
            <a:ext cx="11185855" cy="301752"/>
          </a:xfrm>
          <a:prstGeom prst="rect">
            <a:avLst/>
          </a:prstGeom>
          <a:solidFill>
            <a:srgbClr val="F2F5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502920" y="525780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final y 4.ª presentación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370475" y="5312664"/>
            <a:ext cx="986752" cy="192024"/>
          </a:xfrm>
          <a:prstGeom prst="roundRect">
            <a:avLst>
              <a:gd name="adj" fmla="val 19048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502920" y="55595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Corrección, defensa y titulación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1033572" y="5614416"/>
            <a:ext cx="655203" cy="192024"/>
          </a:xfrm>
          <a:prstGeom prst="roundRect">
            <a:avLst>
              <a:gd name="adj" fmla="val 19048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5768264" y="2240280"/>
            <a:ext cx="0" cy="3621024"/>
          </a:xfrm>
          <a:prstGeom prst="line">
            <a:avLst/>
          </a:prstGeom>
          <a:noFill/>
          <a:ln w="9525">
            <a:solidFill>
              <a:srgbClr val="C9D2B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7741768" y="2240280"/>
            <a:ext cx="0" cy="3621024"/>
          </a:xfrm>
          <a:prstGeom prst="line">
            <a:avLst/>
          </a:prstGeom>
          <a:noFill/>
          <a:ln w="9525">
            <a:solidFill>
              <a:srgbClr val="C9D2B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9715271" y="2240280"/>
            <a:ext cx="0" cy="3621024"/>
          </a:xfrm>
          <a:prstGeom prst="line">
            <a:avLst/>
          </a:prstGeom>
          <a:noFill/>
          <a:ln w="9525">
            <a:solidFill>
              <a:srgbClr val="C9D2B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502920" y="6035040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7D9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813816" y="59984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Completado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938528" y="6035040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F26B1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2249424" y="59984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curso (este semestre)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462272" y="6035040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5D71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4773168" y="59984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Planeado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686800" y="59984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retribución social cada semestre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" y="384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BIBLIOGRAFÍA GENERAL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F4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Referencias principales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1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Fuentes que sustentan el marco teórico y el estado del arte. La lista completa (83 referencias) está en el documento de tesis.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(2024). Introducing the Model Context Protocol (MCP).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Hou, X., Zhao, Y., Wang, S. &amp; Wang, H. (2025). Model Context Protocol (MCP): Landscape, security threats, and future research directions.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Ray, P. P. (2025). A survey on Model Context Protocol: Architecture, state-of-the-art, challenges and future directions.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Lewis, P. et al. (2020). Retrieval-Augmented Generation for knowledge-intensive NLP tasks. NeurIPS.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Sui, Y. et al. (2024). Table meets LLM: Can large language models understand structured table data? ACM WSDM.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Zhao, F. et al. (2025). Hybrid Querying over Relational Databases and Large Language Models. CIDR '25.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Page, M. J. et al. (2021). The PRISMA 2020 statement: an updated guideline for reporting systematic reviews.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205740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Kitchenham, B. &amp; Charters, S. (2007). Guidelines for performing systematic literature reviews in software engineering.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(2019). ISO 9241-210: Human-centred design for interactive systems.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Carrera-Rivera, A., Larrinaga, F. &amp; Lasa, G. (2022). Context-awareness for the design of Smart product-service systems.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Domínguez-García, R. O. et al. (2020). Sistema de monitoreo de temperatura y humedad en el Data Center de CUValles mediante IoT.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Vallejo-Sánchez, D. et al. (2024). Desarrollo de una arquitectura IoT para monitoreo ambiental.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Quiroz-Valdez, J. A. et al. (2024). Sistema de monitoreo IoT para la gestión inteligente de cultivos.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000" b="1" dirty="0">
                <a:solidFill>
                  <a:srgbClr val="5A7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 </a:t>
            </a:r>
            <a:r>
              <a:rPr lang="en-US" sz="10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Flores Quisbert, E. (2008). Agentes inteligentes: el siguiente paso en la inteligencia artificial.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cho Andrade\Documents\Claude\Projects\Tesis Nacho\Presentacion_Avances\assets\Fondo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1E">
              <a:alpha val="62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C:\Users\Nacho Andrade\Documents\Claude\Projects\Tesis Nacho\Presentacion_Avances\assets\LogoUd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50408" y="640080"/>
            <a:ext cx="1097280" cy="12532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1920240"/>
            <a:ext cx="9445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dato técnico a </a:t>
            </a:r>
            <a:r>
              <a:rPr lang="en-US" sz="3400" b="1" dirty="0">
                <a:solidFill>
                  <a:srgbClr val="AAC2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lenguaje que todos entienden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plataforma web + agente inteligente para la información ambiental de la Región Valles.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2743200" y="3931920"/>
            <a:ext cx="2798064" cy="457200"/>
          </a:xfrm>
          <a:prstGeom prst="roundRect">
            <a:avLst>
              <a:gd name="adj" fmla="val 50000"/>
            </a:avLst>
          </a:prstGeom>
          <a:solidFill>
            <a:srgbClr val="5A72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2743200" y="393192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Avances 2.º semestre completos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769864" y="3931920"/>
            <a:ext cx="405993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5769864" y="3931920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Siguiente: arquitectura y prototipo funcional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377440" y="470916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2487168" y="4768596"/>
            <a:ext cx="658368" cy="658368"/>
          </a:xfrm>
          <a:prstGeom prst="ellipse">
            <a:avLst/>
          </a:prstGeom>
          <a:solidFill>
            <a:srgbClr val="FCEDE1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2" descr="C:\Users\Nacho Andrade\Documents\Claude\Projects\Tesis Nacho\Presentacion_Avances\assets\leo_saludo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05456" y="4786884"/>
            <a:ext cx="621792" cy="6217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73552" y="4800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F26B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 por su atención!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309360" y="470916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1"/>
          <p:cNvSpPr/>
          <p:nvPr/>
        </p:nvSpPr>
        <p:spPr>
          <a:xfrm>
            <a:off x="6419088" y="4768596"/>
            <a:ext cx="658368" cy="658368"/>
          </a:xfrm>
          <a:prstGeom prst="ellipse">
            <a:avLst/>
          </a:prstGeom>
          <a:solidFill>
            <a:srgbClr val="E7F6F8"/>
          </a:solidFill>
          <a:ln w="12700">
            <a:solidFill>
              <a:srgbClr val="1FAFB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3" descr="C:\Users\Nacho Andrade\Documents\Claude\Projects\Tesis Nacho\Presentacion_Avances\assets\ecoflow_idl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4628" y="4791974"/>
            <a:ext cx="486461" cy="6080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05472" y="4800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A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EcoFlow  </a:t>
            </a:r>
            <a:r>
              <a:rPr lang="en-US" sz="1100" dirty="0">
                <a:solidFill>
                  <a:srgbClr val="2A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¿Tienen preguntas? Con gusto las respondo.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E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Lic. Ignacio Andrade Salazar · Maestría en Ingeniería de Software · CUValles, UDG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2642</Words>
  <Application>Microsoft Office PowerPoint</Application>
  <PresentationFormat>Panorámica</PresentationFormat>
  <Paragraphs>359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Georgia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ANDRADE SALAZAR, IGNACIO</cp:lastModifiedBy>
  <cp:revision>3</cp:revision>
  <dcterms:created xsi:type="dcterms:W3CDTF">2026-06-22T18:34:04Z</dcterms:created>
  <dcterms:modified xsi:type="dcterms:W3CDTF">2026-06-22T23:43:40Z</dcterms:modified>
</cp:coreProperties>
</file>