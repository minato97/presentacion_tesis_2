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8151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cho Andrade\Documents\Claude\Projects\Tesis Nacho\Presentacion_Avances\assets\Fond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1E">
              <a:alpha val="62000"/>
            </a:srgbClr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4" name="Image 1" descr="C:\Users\Nacho Andrade\Documents\Claude\Projects\Tesis Nacho\Presentacion_Avances\assets\LogoUdG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34840" y="457200"/>
            <a:ext cx="1148984" cy="14630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126480" y="603504"/>
            <a:ext cx="27889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6" name="Text 2"/>
          <p:cNvSpPr/>
          <p:nvPr/>
        </p:nvSpPr>
        <p:spPr>
          <a:xfrm>
            <a:off x="6126480" y="694944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700" b="1" kern="0" spc="200" dirty="0">
                <a:solidFill>
                  <a:srgbClr val="9D2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SECIHTI</a:t>
            </a:r>
            <a:endParaRPr lang="en-US" sz="2700" dirty="0"/>
          </a:p>
        </p:txBody>
      </p:sp>
      <p:sp>
        <p:nvSpPr>
          <p:cNvPr id="7" name="Text 3"/>
          <p:cNvSpPr/>
          <p:nvPr/>
        </p:nvSpPr>
        <p:spPr>
          <a:xfrm>
            <a:off x="6126480" y="1152144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750" b="1" kern="0" spc="50" dirty="0">
                <a:solidFill>
                  <a:srgbClr val="B088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SECRETARÍA DE CIENCIA, HUMANIDADES,</a:t>
            </a:r>
            <a:endParaRPr lang="en-US" sz="7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750" b="1" kern="0" spc="50" dirty="0">
                <a:solidFill>
                  <a:srgbClr val="B088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TECNOLOGÍA E INNOVACIÓN</a:t>
            </a:r>
            <a:endParaRPr lang="en-US" sz="750" dirty="0"/>
          </a:p>
        </p:txBody>
      </p:sp>
      <p:sp>
        <p:nvSpPr>
          <p:cNvPr id="8" name="Text 4"/>
          <p:cNvSpPr/>
          <p:nvPr/>
        </p:nvSpPr>
        <p:spPr>
          <a:xfrm>
            <a:off x="914400" y="205740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7EC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Universidad de Guadalajara · Centro Universitario de los Valles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280160" y="2468880"/>
            <a:ext cx="96286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 de Monitoreo Medioambiental y Edafológico con integración de un agente inteligente para la interpretación de datos</a:t>
            </a:r>
            <a:endParaRPr lang="en-US" sz="2800" dirty="0"/>
          </a:p>
        </p:txBody>
      </p:sp>
      <p:sp>
        <p:nvSpPr>
          <p:cNvPr id="10" name="Text 6"/>
          <p:cNvSpPr/>
          <p:nvPr/>
        </p:nvSpPr>
        <p:spPr>
          <a:xfrm>
            <a:off x="914400" y="397764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Maestría en Ingeniería de Software · </a:t>
            </a:r>
            <a:r>
              <a:rPr lang="en-US" sz="1400" b="1" dirty="0">
                <a:solidFill>
                  <a:srgbClr val="AAC2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Avances de Tesis — 2.º semestre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417320" y="4572000"/>
            <a:ext cx="3013862" cy="420624"/>
          </a:xfrm>
          <a:prstGeom prst="roundRect">
            <a:avLst>
              <a:gd name="adj" fmla="val 50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2" name="Text 8"/>
          <p:cNvSpPr/>
          <p:nvPr/>
        </p:nvSpPr>
        <p:spPr>
          <a:xfrm>
            <a:off x="1417320" y="4572000"/>
            <a:ext cx="301386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Presenta: Lic. Ignacio Andrade Salazar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14062" y="4572000"/>
            <a:ext cx="3388766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Text 10"/>
          <p:cNvSpPr/>
          <p:nvPr/>
        </p:nvSpPr>
        <p:spPr>
          <a:xfrm>
            <a:off x="4614062" y="4572000"/>
            <a:ext cx="338876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Director: Dr. Rodolfo Omar Domínguez García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185709" y="4572000"/>
            <a:ext cx="3313786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Text 12"/>
          <p:cNvSpPr/>
          <p:nvPr/>
        </p:nvSpPr>
        <p:spPr>
          <a:xfrm>
            <a:off x="8185709" y="4572000"/>
            <a:ext cx="331378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Codirector: Dr. Salvador Cervantes Álvarez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828800" y="525780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26B1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Shape 14"/>
          <p:cNvSpPr/>
          <p:nvPr/>
        </p:nvSpPr>
        <p:spPr>
          <a:xfrm>
            <a:off x="1938528" y="5385816"/>
            <a:ext cx="658368" cy="658368"/>
          </a:xfrm>
          <a:prstGeom prst="ellipse">
            <a:avLst/>
          </a:prstGeom>
          <a:solidFill>
            <a:srgbClr val="FCEDE1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19" name="Image 2" descr="C:\Users\Nacho Andrade\Documents\Claude\Projects\Tesis Nacho\Presentacion_Avances\assets\leo_saludo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956816" y="5404104"/>
            <a:ext cx="621792" cy="62179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724912" y="53492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F26B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Leo  </a:t>
            </a: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Oye </a:t>
            </a:r>
            <a:r>
              <a:rPr lang="en-US" sz="11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EcoFlow</a:t>
            </a: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¿qué vamos a ver hoy en estos avances?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309360" y="525780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AFB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2" name="Shape 17"/>
          <p:cNvSpPr/>
          <p:nvPr/>
        </p:nvSpPr>
        <p:spPr>
          <a:xfrm>
            <a:off x="6419088" y="5385816"/>
            <a:ext cx="658368" cy="658368"/>
          </a:xfrm>
          <a:prstGeom prst="ellipse">
            <a:avLst/>
          </a:prstGeom>
          <a:solidFill>
            <a:srgbClr val="E7F6F8"/>
          </a:solidFill>
          <a:ln w="12700">
            <a:solidFill>
              <a:srgbClr val="1FAFB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23" name="Image 3" descr="C:\Users\Nacho Andrade\Documents\Claude\Projects\Tesis Nacho\Presentacion_Avances\assets\ecoflow_idl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444966" y="5402356"/>
            <a:ext cx="506121" cy="6070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05472" y="53492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AF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EcoFlow  </a:t>
            </a: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¡El problema, los objetivos, el estado del arte y la propuesta del sistema! 🌎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329184"/>
          </a:xfrm>
          <a:prstGeom prst="roundRect">
            <a:avLst>
              <a:gd name="adj" fmla="val 16667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420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33272" y="3840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GUÍA DE AVANCES · 2.º SEMESTRE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 que voy a presentar hoy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3545738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7" name="Shape 5"/>
          <p:cNvSpPr/>
          <p:nvPr/>
        </p:nvSpPr>
        <p:spPr>
          <a:xfrm>
            <a:off x="667512" y="19019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8" name="Text 6"/>
          <p:cNvSpPr/>
          <p:nvPr/>
        </p:nvSpPr>
        <p:spPr>
          <a:xfrm>
            <a:off x="667512" y="1901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52728" y="188366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Problema y justificación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22978" y="1737360"/>
            <a:ext cx="3545738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1" name="Shape 9"/>
          <p:cNvSpPr/>
          <p:nvPr/>
        </p:nvSpPr>
        <p:spPr>
          <a:xfrm>
            <a:off x="4487570" y="19019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2" name="Text 10"/>
          <p:cNvSpPr/>
          <p:nvPr/>
        </p:nvSpPr>
        <p:spPr>
          <a:xfrm>
            <a:off x="4487570" y="1901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🧭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72786" y="188366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Objetivos y alcance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43037" y="1737360"/>
            <a:ext cx="3545738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5" name="Shape 13"/>
          <p:cNvSpPr/>
          <p:nvPr/>
        </p:nvSpPr>
        <p:spPr>
          <a:xfrm>
            <a:off x="8307629" y="19019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FAFB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6" name="Text 14"/>
          <p:cNvSpPr/>
          <p:nvPr/>
        </p:nvSpPr>
        <p:spPr>
          <a:xfrm>
            <a:off x="8307629" y="1901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📖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92845" y="188366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Marco teórico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063240"/>
            <a:ext cx="3545738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9" name="Shape 17"/>
          <p:cNvSpPr/>
          <p:nvPr/>
        </p:nvSpPr>
        <p:spPr>
          <a:xfrm>
            <a:off x="667512" y="32278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FAFB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0" name="Text 18"/>
          <p:cNvSpPr/>
          <p:nvPr/>
        </p:nvSpPr>
        <p:spPr>
          <a:xfrm>
            <a:off x="667512" y="3227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🔬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52728" y="320954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· Estado del arte (RSL)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322978" y="3063240"/>
            <a:ext cx="3545738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3" name="Shape 21"/>
          <p:cNvSpPr/>
          <p:nvPr/>
        </p:nvSpPr>
        <p:spPr>
          <a:xfrm>
            <a:off x="4487570" y="32278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FAFB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4" name="Text 22"/>
          <p:cNvSpPr/>
          <p:nvPr/>
        </p:nvSpPr>
        <p:spPr>
          <a:xfrm>
            <a:off x="4487570" y="3227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⚙️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072786" y="320954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· Metodología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143037" y="3063240"/>
            <a:ext cx="3545738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7" name="Shape 25"/>
          <p:cNvSpPr/>
          <p:nvPr/>
        </p:nvSpPr>
        <p:spPr>
          <a:xfrm>
            <a:off x="8307629" y="32278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5D0C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8" name="Text 26"/>
          <p:cNvSpPr/>
          <p:nvPr/>
        </p:nvSpPr>
        <p:spPr>
          <a:xfrm>
            <a:off x="8307629" y="3227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🏢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892845" y="320954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· Avances de la propuesta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02920" y="4389120"/>
            <a:ext cx="3545738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31" name="Shape 29"/>
          <p:cNvSpPr/>
          <p:nvPr/>
        </p:nvSpPr>
        <p:spPr>
          <a:xfrm>
            <a:off x="667512" y="455371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5D0C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2" name="Text 30"/>
          <p:cNvSpPr/>
          <p:nvPr/>
        </p:nvSpPr>
        <p:spPr>
          <a:xfrm>
            <a:off x="667512" y="4553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252728" y="453542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· Atención a observaciones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322978" y="4389120"/>
            <a:ext cx="3545738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35" name="Shape 33"/>
          <p:cNvSpPr/>
          <p:nvPr/>
        </p:nvSpPr>
        <p:spPr>
          <a:xfrm>
            <a:off x="4487570" y="455371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4F59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6" name="Text 34"/>
          <p:cNvSpPr/>
          <p:nvPr/>
        </p:nvSpPr>
        <p:spPr>
          <a:xfrm>
            <a:off x="4487570" y="4553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🤝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072786" y="453542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· Retribución social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143037" y="4389120"/>
            <a:ext cx="3545738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39" name="Shape 37"/>
          <p:cNvSpPr/>
          <p:nvPr/>
        </p:nvSpPr>
        <p:spPr>
          <a:xfrm>
            <a:off x="8307629" y="455371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4F59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0" name="Text 38"/>
          <p:cNvSpPr/>
          <p:nvPr/>
        </p:nvSpPr>
        <p:spPr>
          <a:xfrm>
            <a:off x="8307629" y="4553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📅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892845" y="453542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· Cronograma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400800" y="5989320"/>
            <a:ext cx="52120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F26B1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3" name="Shape 41"/>
          <p:cNvSpPr/>
          <p:nvPr/>
        </p:nvSpPr>
        <p:spPr>
          <a:xfrm>
            <a:off x="6510528" y="6025896"/>
            <a:ext cx="658368" cy="658368"/>
          </a:xfrm>
          <a:prstGeom prst="ellipse">
            <a:avLst/>
          </a:prstGeom>
          <a:solidFill>
            <a:srgbClr val="FCEDE1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44" name="Image 0" descr="C:\Users\Nacho Andrade\Documents\Claude\Projects\Tesis Nacho\Presentacion_Avances\assets\leo_salud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528816" y="6044184"/>
            <a:ext cx="621792" cy="621792"/>
          </a:xfrm>
          <a:prstGeom prst="rect">
            <a:avLst/>
          </a:prstGeom>
        </p:spPr>
      </p:pic>
      <p:sp>
        <p:nvSpPr>
          <p:cNvPr id="45" name="Text 42"/>
          <p:cNvSpPr/>
          <p:nvPr/>
        </p:nvSpPr>
        <p:spPr>
          <a:xfrm>
            <a:off x="7296912" y="608076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F26B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Leo  </a:t>
            </a: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 </a:t>
            </a:r>
            <a:r>
              <a:rPr lang="en-US" sz="11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Leo</a:t>
            </a: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el león de la UDG. Te guío por cada punto en ~10 minutos.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329184"/>
          </a:xfrm>
          <a:prstGeom prst="roundRect">
            <a:avLst>
              <a:gd name="adj" fmla="val 16667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420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33272" y="3840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PLANTEAMIENTO DEL PROBLEMA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Hay datos ambientales… pero son difíciles de entender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5943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✓"/>
            </a:pPr>
            <a:r>
              <a:rPr lang="en-US" sz="14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 </a:t>
            </a:r>
            <a:r>
              <a:rPr lang="en-US" sz="14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nodos IoT</a:t>
            </a:r>
            <a:r>
              <a:rPr lang="en-US" sz="14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generan datos técnicos: valores, unidades, umbrales y series temporales.</a:t>
            </a:r>
            <a:endParaRPr lang="en-US" sz="140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buSzPct val="100000"/>
              <a:buChar char="✓"/>
            </a:pPr>
            <a:r>
              <a:rPr lang="en-US" sz="14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Interpretarlos exige </a:t>
            </a:r>
            <a:r>
              <a:rPr lang="en-US" sz="14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conocimiento especializado</a:t>
            </a:r>
            <a:r>
              <a:rPr lang="en-US" sz="14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40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buSzPct val="100000"/>
              <a:buChar char="✓"/>
            </a:pPr>
            <a:r>
              <a:rPr lang="en-US" sz="14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Resultado: </a:t>
            </a:r>
            <a:r>
              <a:rPr lang="en-US" sz="14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inaccesibles</a:t>
            </a:r>
            <a:r>
              <a:rPr lang="en-US" sz="14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usuarios no expertos de la Región Valles.</a:t>
            </a:r>
            <a:endParaRPr lang="en-US" sz="140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buSzPct val="100000"/>
              <a:buChar char="✓"/>
            </a:pPr>
            <a:r>
              <a:rPr lang="en-US" sz="14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Además, los datos están </a:t>
            </a:r>
            <a:r>
              <a:rPr lang="en-US" sz="14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dispersos</a:t>
            </a:r>
            <a:r>
              <a:rPr lang="en-US" sz="14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en formatos poco aprovechables.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20840" y="1828800"/>
            <a:ext cx="49377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F26B1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Shape 6"/>
          <p:cNvSpPr/>
          <p:nvPr/>
        </p:nvSpPr>
        <p:spPr>
          <a:xfrm>
            <a:off x="6830568" y="2002536"/>
            <a:ext cx="658368" cy="658368"/>
          </a:xfrm>
          <a:prstGeom prst="ellipse">
            <a:avLst/>
          </a:prstGeom>
          <a:solidFill>
            <a:srgbClr val="FCEDE1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9" name="Image 0" descr="C:\Users\Nacho Andrade\Documents\Claude\Projects\Tesis Nacho\Presentacion_Avances\assets\leo_salud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48856" y="2020824"/>
            <a:ext cx="621792" cy="62179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16952" y="192024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F26B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Leo  </a:t>
            </a: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Oye </a:t>
            </a:r>
            <a:r>
              <a:rPr lang="en-US" sz="11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EcoFlow</a:t>
            </a: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¿por qué es un problema un dato como </a:t>
            </a:r>
            <a:r>
              <a:rPr lang="en-US" sz="11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“420 ppm de CO₂”</a:t>
            </a: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20840" y="2971800"/>
            <a:ext cx="493776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5875">
            <a:solidFill>
              <a:srgbClr val="1FAFB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Shape 9"/>
          <p:cNvSpPr/>
          <p:nvPr/>
        </p:nvSpPr>
        <p:spPr>
          <a:xfrm>
            <a:off x="6830568" y="3214116"/>
            <a:ext cx="658368" cy="658368"/>
          </a:xfrm>
          <a:prstGeom prst="ellipse">
            <a:avLst/>
          </a:prstGeom>
          <a:solidFill>
            <a:srgbClr val="E7F6F8"/>
          </a:solidFill>
          <a:ln w="12700">
            <a:solidFill>
              <a:srgbClr val="1FAFB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13" name="Image 1" descr="C:\Users\Nacho Andrade\Documents\Claude\Projects\Tesis Nacho\Presentacion_Avances\assets\ecoflow_idl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66108" y="3226084"/>
            <a:ext cx="493776" cy="6281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616952" y="3063240"/>
            <a:ext cx="3931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AF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EcoFlow  </a:t>
            </a: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Porque ese número no le dice nada a la mayoría… </a:t>
            </a:r>
            <a:r>
              <a:rPr lang="en-US" sz="11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traducirlo a algo claro es justo lo que resuelvo</a:t>
            </a: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02920" y="5029200"/>
            <a:ext cx="11185855" cy="914400"/>
          </a:xfrm>
          <a:prstGeom prst="roundRect">
            <a:avLst>
              <a:gd name="adj" fmla="val 10000"/>
            </a:avLst>
          </a:prstGeom>
          <a:solidFill>
            <a:srgbClr val="F6F8F0"/>
          </a:solidFill>
          <a:ln w="12700">
            <a:solidFill>
              <a:srgbClr val="DDE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Text 12"/>
          <p:cNvSpPr/>
          <p:nvPr/>
        </p:nvSpPr>
        <p:spPr>
          <a:xfrm>
            <a:off x="777240" y="5029200"/>
            <a:ext cx="106372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Brecha:  </a:t>
            </a:r>
            <a:r>
              <a:rPr lang="en-US" sz="15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falta una capa que traduzca el dato técnico a </a:t>
            </a:r>
            <a:r>
              <a:rPr lang="en-US" sz="15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lenguaje natural comprensible</a:t>
            </a:r>
            <a:r>
              <a:rPr lang="en-US" sz="15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329184"/>
          </a:xfrm>
          <a:prstGeom prst="roundRect">
            <a:avLst>
              <a:gd name="adj" fmla="val 16667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420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33272" y="3840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JUSTIFICACIÓN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Democratizar el acceso a la información ambiental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259072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7" name="Shape 5"/>
          <p:cNvSpPr/>
          <p:nvPr/>
        </p:nvSpPr>
        <p:spPr>
          <a:xfrm>
            <a:off x="667512" y="19933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8" name="Text 6"/>
          <p:cNvSpPr/>
          <p:nvPr/>
        </p:nvSpPr>
        <p:spPr>
          <a:xfrm>
            <a:off x="667512" y="1993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52728" y="1975104"/>
            <a:ext cx="170375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" y="2560320"/>
            <a:ext cx="218838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Consultar e interpretar datos en lenguaje natural (LLM + MCP).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7964" y="1828800"/>
            <a:ext cx="259072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2" name="Shape 10"/>
          <p:cNvSpPr/>
          <p:nvPr/>
        </p:nvSpPr>
        <p:spPr>
          <a:xfrm>
            <a:off x="3532556" y="19933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3" name="Text 11"/>
          <p:cNvSpPr/>
          <p:nvPr/>
        </p:nvSpPr>
        <p:spPr>
          <a:xfrm>
            <a:off x="3532556" y="1993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7772" y="1975104"/>
            <a:ext cx="170375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Visualización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69132" y="2560320"/>
            <a:ext cx="218838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Tablas, tarjetas y gráficos dinámicos para el análisis científico.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33008" y="1828800"/>
            <a:ext cx="259072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7" name="Shape 15"/>
          <p:cNvSpPr/>
          <p:nvPr/>
        </p:nvSpPr>
        <p:spPr>
          <a:xfrm>
            <a:off x="6397600" y="19933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8" name="Text 16"/>
          <p:cNvSpPr/>
          <p:nvPr/>
        </p:nvSpPr>
        <p:spPr>
          <a:xfrm>
            <a:off x="6397600" y="1993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🛠️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982816" y="1975104"/>
            <a:ext cx="170375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Gestión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34176" y="2560320"/>
            <a:ext cx="218838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Administrar nodos IoT, sensores y usuarios en un solo lugar.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98051" y="1828800"/>
            <a:ext cx="259072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2" name="Shape 20"/>
          <p:cNvSpPr/>
          <p:nvPr/>
        </p:nvSpPr>
        <p:spPr>
          <a:xfrm>
            <a:off x="9262643" y="19933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3" name="Text 21"/>
          <p:cNvSpPr/>
          <p:nvPr/>
        </p:nvSpPr>
        <p:spPr>
          <a:xfrm>
            <a:off x="9262643" y="1993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847859" y="1975104"/>
            <a:ext cx="170375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299219" y="2560320"/>
            <a:ext cx="218838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Solución escalable y replicable en otras regiones.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4480560"/>
            <a:ext cx="11185855" cy="1371600"/>
          </a:xfrm>
          <a:prstGeom prst="roundRect">
            <a:avLst>
              <a:gd name="adj" fmla="val 6667"/>
            </a:avLst>
          </a:prstGeom>
          <a:solidFill>
            <a:srgbClr val="F6F8F0"/>
          </a:solidFill>
          <a:ln w="12700">
            <a:solidFill>
              <a:srgbClr val="DDE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7" name="Text 25"/>
          <p:cNvSpPr/>
          <p:nvPr/>
        </p:nvSpPr>
        <p:spPr>
          <a:xfrm>
            <a:off x="777240" y="4480560"/>
            <a:ext cx="1063721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Fortalece la </a:t>
            </a:r>
            <a:r>
              <a:rPr lang="en-US" sz="15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investigación, docencia y planeación ambiental</a:t>
            </a:r>
            <a:r>
              <a:rPr lang="en-US" sz="15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CUValles y la Región Valles, impulsando la </a:t>
            </a:r>
            <a:r>
              <a:rPr lang="en-US" sz="15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transformación digital</a:t>
            </a:r>
            <a:r>
              <a:rPr lang="en-US" sz="15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la gestión medioambiental.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329184"/>
          </a:xfrm>
          <a:prstGeom prst="roundRect">
            <a:avLst>
              <a:gd name="adj" fmla="val 16667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420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33272" y="3840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OBJETIVOS · ALCANCE · LÍMITES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11185855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85D0C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Text 4"/>
          <p:cNvSpPr/>
          <p:nvPr/>
        </p:nvSpPr>
        <p:spPr>
          <a:xfrm>
            <a:off x="731520" y="102412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 Objetivo general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389888"/>
            <a:ext cx="107286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Desarrollar y evaluar una </a:t>
            </a:r>
            <a:r>
              <a:rPr lang="en-US" sz="125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plataforma web</a:t>
            </a:r>
            <a:r>
              <a:rPr lang="en-US" sz="12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que integra un </a:t>
            </a:r>
            <a:r>
              <a:rPr lang="en-US" sz="125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Agente Inteligente</a:t>
            </a:r>
            <a:r>
              <a:rPr lang="en-US" sz="12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(MCP + LLM) para facilitar el acceso, gestión y comprensión de los datos de los nodos IoT del SMMyE a usuarios con distintos niveles de conocimiento.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354573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9" name="Shape 7"/>
          <p:cNvSpPr/>
          <p:nvPr/>
        </p:nvSpPr>
        <p:spPr>
          <a:xfrm>
            <a:off x="667512" y="2679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0" name="Text 8"/>
          <p:cNvSpPr/>
          <p:nvPr/>
        </p:nvSpPr>
        <p:spPr>
          <a:xfrm>
            <a:off x="667512" y="2679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52728" y="266090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OE1 · Requerimientos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04088" y="3246120"/>
            <a:ext cx="3143402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ERS funcional y no funcional.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22978" y="2514600"/>
            <a:ext cx="354573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4" name="Shape 12"/>
          <p:cNvSpPr/>
          <p:nvPr/>
        </p:nvSpPr>
        <p:spPr>
          <a:xfrm>
            <a:off x="4487570" y="2679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5" name="Text 13"/>
          <p:cNvSpPr/>
          <p:nvPr/>
        </p:nvSpPr>
        <p:spPr>
          <a:xfrm>
            <a:off x="4487570" y="2679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🧩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72786" y="266090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OE2 · Arquitectura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24146" y="3246120"/>
            <a:ext cx="3143402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Componentes, datos e interfaces.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43037" y="2514600"/>
            <a:ext cx="354573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9" name="Shape 17"/>
          <p:cNvSpPr/>
          <p:nvPr/>
        </p:nvSpPr>
        <p:spPr>
          <a:xfrm>
            <a:off x="8307629" y="2679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0" name="Text 18"/>
          <p:cNvSpPr/>
          <p:nvPr/>
        </p:nvSpPr>
        <p:spPr>
          <a:xfrm>
            <a:off x="8307629" y="2679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🖥️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92845" y="266090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OE3 · Plataforma + API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344205" y="3246120"/>
            <a:ext cx="3143402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Ingesta, visualización y administración.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4389120"/>
            <a:ext cx="354573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4" name="Shape 22"/>
          <p:cNvSpPr/>
          <p:nvPr/>
        </p:nvSpPr>
        <p:spPr>
          <a:xfrm>
            <a:off x="667512" y="455371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5" name="Text 23"/>
          <p:cNvSpPr/>
          <p:nvPr/>
        </p:nvSpPr>
        <p:spPr>
          <a:xfrm>
            <a:off x="667512" y="4553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52728" y="453542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OE4 · MCP + chat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04088" y="5120640"/>
            <a:ext cx="3143402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Agente conversacional (≥85% consultas).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322978" y="4389120"/>
            <a:ext cx="354573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9" name="Shape 27"/>
          <p:cNvSpPr/>
          <p:nvPr/>
        </p:nvSpPr>
        <p:spPr>
          <a:xfrm>
            <a:off x="4487570" y="455371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0" name="Text 28"/>
          <p:cNvSpPr/>
          <p:nvPr/>
        </p:nvSpPr>
        <p:spPr>
          <a:xfrm>
            <a:off x="4487570" y="4553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072786" y="453542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OE5 · Evaluación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24146" y="5120640"/>
            <a:ext cx="3143402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 ≥ 70 · 80% interpreta bien.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143037" y="4389120"/>
            <a:ext cx="354573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34" name="Shape 32"/>
          <p:cNvSpPr/>
          <p:nvPr/>
        </p:nvSpPr>
        <p:spPr>
          <a:xfrm>
            <a:off x="8307629" y="455371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4F59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5" name="Text 33"/>
          <p:cNvSpPr/>
          <p:nvPr/>
        </p:nvSpPr>
        <p:spPr>
          <a:xfrm>
            <a:off x="8307629" y="4553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📐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892845" y="453542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Alcance / límites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344205" y="5120640"/>
            <a:ext cx="3143402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Sí:</a:t>
            </a: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recibir, visualizar e interpretar.  </a:t>
            </a:r>
            <a:r>
              <a:rPr lang="en-US" sz="105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No:</a:t>
            </a: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controlar hardware, predecir ni notificar.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329184"/>
          </a:xfrm>
          <a:prstGeom prst="roundRect">
            <a:avLst>
              <a:gd name="adj" fmla="val 16667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420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33272" y="3840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MARCO TEÓRICO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 conceptos que sostienen la propuesta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354573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7" name="Shape 5"/>
          <p:cNvSpPr/>
          <p:nvPr/>
        </p:nvSpPr>
        <p:spPr>
          <a:xfrm>
            <a:off x="667512" y="19019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FAFB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8" name="Text 6"/>
          <p:cNvSpPr/>
          <p:nvPr/>
        </p:nvSpPr>
        <p:spPr>
          <a:xfrm>
            <a:off x="667512" y="1901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52728" y="188366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IoT y redes de sensores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04088" y="2468880"/>
            <a:ext cx="314340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Nodos que miden aire, clima y suelo y publican lecturas.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22978" y="1737360"/>
            <a:ext cx="354573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2" name="Shape 10"/>
          <p:cNvSpPr/>
          <p:nvPr/>
        </p:nvSpPr>
        <p:spPr>
          <a:xfrm>
            <a:off x="4487570" y="19019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FAFB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3" name="Text 11"/>
          <p:cNvSpPr/>
          <p:nvPr/>
        </p:nvSpPr>
        <p:spPr>
          <a:xfrm>
            <a:off x="4487570" y="1901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🧠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2786" y="188366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24146" y="2468880"/>
            <a:ext cx="314340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Modelos de lenguaje que interpretan y responden.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43037" y="1737360"/>
            <a:ext cx="354573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7" name="Shape 15"/>
          <p:cNvSpPr/>
          <p:nvPr/>
        </p:nvSpPr>
        <p:spPr>
          <a:xfrm>
            <a:off x="8307629" y="19019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FAFB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8" name="Text 16"/>
          <p:cNvSpPr/>
          <p:nvPr/>
        </p:nvSpPr>
        <p:spPr>
          <a:xfrm>
            <a:off x="8307629" y="1901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92845" y="188366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Agentes inteligentes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44205" y="2468880"/>
            <a:ext cx="314340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Deciden qué herramienta usar para resolver la consulta.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354573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2" name="Shape 20"/>
          <p:cNvSpPr/>
          <p:nvPr/>
        </p:nvSpPr>
        <p:spPr>
          <a:xfrm>
            <a:off x="667512" y="35478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5D0C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3" name="Text 21"/>
          <p:cNvSpPr/>
          <p:nvPr/>
        </p:nvSpPr>
        <p:spPr>
          <a:xfrm>
            <a:off x="667512" y="35478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🧩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52728" y="352958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(Anthropic, 2024)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04088" y="4114800"/>
            <a:ext cx="314340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Protocolo que estandariza el acceso del LLM a los datos.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22978" y="3383280"/>
            <a:ext cx="354573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7" name="Shape 25"/>
          <p:cNvSpPr/>
          <p:nvPr/>
        </p:nvSpPr>
        <p:spPr>
          <a:xfrm>
            <a:off x="4487570" y="35478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FAFB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8" name="Text 26"/>
          <p:cNvSpPr/>
          <p:nvPr/>
        </p:nvSpPr>
        <p:spPr>
          <a:xfrm>
            <a:off x="4487570" y="35478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🔍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072786" y="352958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24146" y="4114800"/>
            <a:ext cx="314340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Respuestas basadas en datos reales recuperados.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143037" y="3383280"/>
            <a:ext cx="354573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32" name="Shape 30"/>
          <p:cNvSpPr/>
          <p:nvPr/>
        </p:nvSpPr>
        <p:spPr>
          <a:xfrm>
            <a:off x="8307629" y="35478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3" name="Text 31"/>
          <p:cNvSpPr/>
          <p:nvPr/>
        </p:nvSpPr>
        <p:spPr>
          <a:xfrm>
            <a:off x="8307629" y="35478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🧑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892845" y="352958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DCU · ISO 9241-210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344205" y="4114800"/>
            <a:ext cx="314340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centrado en el usuario, interfaces accesibles.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02920" y="49834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tecnológica: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514600" y="5029200"/>
            <a:ext cx="1069848" cy="384048"/>
          </a:xfrm>
          <a:prstGeom prst="roundRect">
            <a:avLst>
              <a:gd name="adj" fmla="val 50000"/>
            </a:avLst>
          </a:prstGeom>
          <a:solidFill>
            <a:srgbClr val="EAF0D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8" name="Text 36"/>
          <p:cNvSpPr/>
          <p:nvPr/>
        </p:nvSpPr>
        <p:spPr>
          <a:xfrm>
            <a:off x="2514600" y="5029200"/>
            <a:ext cx="1069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Laravel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767328" y="5029200"/>
            <a:ext cx="969264" cy="384048"/>
          </a:xfrm>
          <a:prstGeom prst="roundRect">
            <a:avLst>
              <a:gd name="adj" fmla="val 50000"/>
            </a:avLst>
          </a:prstGeom>
          <a:solidFill>
            <a:srgbClr val="EAF0D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0" name="Text 38"/>
          <p:cNvSpPr/>
          <p:nvPr/>
        </p:nvSpPr>
        <p:spPr>
          <a:xfrm>
            <a:off x="3767328" y="5029200"/>
            <a:ext cx="9692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Vue.js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919472" y="502920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EAF0D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2" name="Text 40"/>
          <p:cNvSpPr/>
          <p:nvPr/>
        </p:nvSpPr>
        <p:spPr>
          <a:xfrm>
            <a:off x="4919472" y="5029200"/>
            <a:ext cx="868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MySQL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971032" y="5029200"/>
            <a:ext cx="667512" cy="384048"/>
          </a:xfrm>
          <a:prstGeom prst="roundRect">
            <a:avLst>
              <a:gd name="adj" fmla="val 50000"/>
            </a:avLst>
          </a:prstGeom>
          <a:solidFill>
            <a:srgbClr val="EAF0D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4" name="Text 42"/>
          <p:cNvSpPr/>
          <p:nvPr/>
        </p:nvSpPr>
        <p:spPr>
          <a:xfrm>
            <a:off x="5971032" y="5029200"/>
            <a:ext cx="6675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n8n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821424" y="5029200"/>
            <a:ext cx="969264" cy="384048"/>
          </a:xfrm>
          <a:prstGeom prst="roundRect">
            <a:avLst>
              <a:gd name="adj" fmla="val 50000"/>
            </a:avLst>
          </a:prstGeom>
          <a:solidFill>
            <a:srgbClr val="EAF0D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6" name="Text 44"/>
          <p:cNvSpPr/>
          <p:nvPr/>
        </p:nvSpPr>
        <p:spPr>
          <a:xfrm>
            <a:off x="6821424" y="5029200"/>
            <a:ext cx="9692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329184"/>
          </a:xfrm>
          <a:prstGeom prst="roundRect">
            <a:avLst>
              <a:gd name="adj" fmla="val 16667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420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33272" y="3840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ESTADO DEL ARTE · PREGUNTAS DE INVESTIGACIÓN Y CADENA DE BÚSQUEDA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Primero las preguntas… luego la búsqueda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777240" cy="566928"/>
          </a:xfrm>
          <a:prstGeom prst="roundRect">
            <a:avLst>
              <a:gd name="adj" fmla="val 12903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502920" y="1828800"/>
            <a:ext cx="777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RQ1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828800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Agentes + LLM</a:t>
            </a:r>
            <a:r>
              <a:rPr lang="en-US" sz="12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interpretar datos ambientales vs. interfaces tradicionales.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505456"/>
            <a:ext cx="777240" cy="566928"/>
          </a:xfrm>
          <a:prstGeom prst="roundRect">
            <a:avLst>
              <a:gd name="adj" fmla="val 12903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0" name="Text 8"/>
          <p:cNvSpPr/>
          <p:nvPr/>
        </p:nvSpPr>
        <p:spPr>
          <a:xfrm>
            <a:off x="502920" y="2505456"/>
            <a:ext cx="777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RQ2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2505456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Ventajas del </a:t>
            </a:r>
            <a:r>
              <a:rPr lang="en-US" sz="12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</a:t>
            </a:r>
            <a:r>
              <a:rPr lang="en-US" sz="12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integrar datos </a:t>
            </a:r>
            <a:r>
              <a:rPr lang="en-US" sz="12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IoT heterogéneos</a:t>
            </a:r>
            <a:r>
              <a:rPr lang="en-US" sz="12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182112"/>
            <a:ext cx="777240" cy="566928"/>
          </a:xfrm>
          <a:prstGeom prst="roundRect">
            <a:avLst>
              <a:gd name="adj" fmla="val 12903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3" name="Text 11"/>
          <p:cNvSpPr/>
          <p:nvPr/>
        </p:nvSpPr>
        <p:spPr>
          <a:xfrm>
            <a:off x="502920" y="3182112"/>
            <a:ext cx="777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RQ3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3182112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centrado en el usuario</a:t>
            </a:r>
            <a:r>
              <a:rPr lang="en-US" sz="12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(UCD) y experiencia de usuario.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858768"/>
            <a:ext cx="777240" cy="566928"/>
          </a:xfrm>
          <a:prstGeom prst="roundRect">
            <a:avLst>
              <a:gd name="adj" fmla="val 12903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6" name="Text 14"/>
          <p:cNvSpPr/>
          <p:nvPr/>
        </p:nvSpPr>
        <p:spPr>
          <a:xfrm>
            <a:off x="502920" y="3858768"/>
            <a:ext cx="777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RQ4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3858768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Context-awareness</a:t>
            </a:r>
            <a:r>
              <a:rPr lang="en-US" sz="12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personalizar servicios.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4535424"/>
            <a:ext cx="777240" cy="566928"/>
          </a:xfrm>
          <a:prstGeom prst="roundRect">
            <a:avLst>
              <a:gd name="adj" fmla="val 12903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9" name="Text 17"/>
          <p:cNvSpPr/>
          <p:nvPr/>
        </p:nvSpPr>
        <p:spPr>
          <a:xfrm>
            <a:off x="502920" y="4535424"/>
            <a:ext cx="777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RQ5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4535424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Técnicas </a:t>
            </a:r>
            <a:r>
              <a:rPr lang="en-US" sz="12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</a:t>
            </a:r>
            <a:r>
              <a:rPr lang="en-US" sz="12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precisión en datos científicos.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0" y="1828800"/>
            <a:ext cx="5287975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7780">
            <a:solidFill>
              <a:srgbClr val="5A723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2" name="Text 20"/>
          <p:cNvSpPr/>
          <p:nvPr/>
        </p:nvSpPr>
        <p:spPr>
          <a:xfrm>
            <a:off x="6629400" y="1965960"/>
            <a:ext cx="4830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🔍  Cadena de búsqueda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29400" y="2331720"/>
            <a:ext cx="48307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Scopus · IEEE Xplore · Web of Science (mayo 2026). </a:t>
            </a:r>
            <a:r>
              <a:rPr lang="en-US" sz="11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</a:t>
            </a: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entre grupos PICO, </a:t>
            </a:r>
            <a:r>
              <a:rPr lang="en-US" sz="11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entre sinónimos.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29400" y="2926080"/>
            <a:ext cx="4830775" cy="713232"/>
          </a:xfrm>
          <a:prstGeom prst="roundRect">
            <a:avLst>
              <a:gd name="adj" fmla="val 8974"/>
            </a:avLst>
          </a:prstGeom>
          <a:solidFill>
            <a:srgbClr val="F6F8F0"/>
          </a:solidFill>
          <a:ln w="12700">
            <a:solidFill>
              <a:srgbClr val="DDE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5" name="Text 23"/>
          <p:cNvSpPr/>
          <p:nvPr/>
        </p:nvSpPr>
        <p:spPr>
          <a:xfrm>
            <a:off x="6766560" y="2926080"/>
            <a:ext cx="455645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Dominio  </a:t>
            </a:r>
            <a:r>
              <a:rPr lang="en-US" sz="9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"environmental monitoring" OR "soil monitoring" OR "IoT" OR "sensor network*"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629400" y="3621024"/>
            <a:ext cx="48307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629400" y="3840480"/>
            <a:ext cx="4830775" cy="713232"/>
          </a:xfrm>
          <a:prstGeom prst="roundRect">
            <a:avLst>
              <a:gd name="adj" fmla="val 8974"/>
            </a:avLst>
          </a:prstGeom>
          <a:solidFill>
            <a:srgbClr val="FCEDE1"/>
          </a:solidFill>
          <a:ln w="12700">
            <a:solidFill>
              <a:srgbClr val="E85D0C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8" name="Text 26"/>
          <p:cNvSpPr/>
          <p:nvPr/>
        </p:nvSpPr>
        <p:spPr>
          <a:xfrm>
            <a:off x="6766560" y="3840480"/>
            <a:ext cx="455645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Tecnología  </a:t>
            </a:r>
            <a:r>
              <a:rPr lang="en-US" sz="9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"Model Context Protocol" OR "MCP" OR "AI agent*" OR "LLM" OR "RAG" OR "conversational AI"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629400" y="4535424"/>
            <a:ext cx="48307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629400" y="4754880"/>
            <a:ext cx="4830775" cy="713232"/>
          </a:xfrm>
          <a:prstGeom prst="roundRect">
            <a:avLst>
              <a:gd name="adj" fmla="val 8974"/>
            </a:avLst>
          </a:prstGeom>
          <a:solidFill>
            <a:srgbClr val="F6F8F0"/>
          </a:solidFill>
          <a:ln w="12700">
            <a:solidFill>
              <a:srgbClr val="DDE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1" name="Text 29"/>
          <p:cNvSpPr/>
          <p:nvPr/>
        </p:nvSpPr>
        <p:spPr>
          <a:xfrm>
            <a:off x="6766560" y="4754880"/>
            <a:ext cx="455645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Usuario  </a:t>
            </a:r>
            <a:r>
              <a:rPr lang="en-US" sz="9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"user experience" OR "usability" OR "user-centered design" OR "context-aware*" OR "non-expert user*"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02920" y="632764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3" name="Text 31"/>
          <p:cNvSpPr/>
          <p:nvPr/>
        </p:nvSpPr>
        <p:spPr>
          <a:xfrm>
            <a:off x="502920" y="632764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011680" y="63276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término emergente (Anthropic, 2024): central para RQ2 y diferenciador de esta revisión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329184"/>
          </a:xfrm>
          <a:prstGeom prst="roundRect">
            <a:avLst>
              <a:gd name="adj" fmla="val 16667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420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33272" y="3840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ESTADO DEL ARTE · REVISIÓN SISTEMÁTICA DE LITERATURA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Búsqueda con método: PICO + PRISMA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56692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✓"/>
            </a:pPr>
            <a:r>
              <a:rPr lang="en-US" sz="135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PICO</a:t>
            </a:r>
            <a:r>
              <a:rPr lang="en-US" sz="13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definió qué buscar; </a:t>
            </a:r>
            <a:r>
              <a:rPr lang="en-US" sz="135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PRISMA</a:t>
            </a:r>
            <a:r>
              <a:rPr lang="en-US" sz="13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el cómo filtrar.</a:t>
            </a:r>
            <a:endParaRPr lang="en-US" sz="135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buSzPct val="100000"/>
              <a:buChar char="✓"/>
            </a:pPr>
            <a:r>
              <a:rPr lang="en-US" sz="13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Fuentes: </a:t>
            </a:r>
            <a:r>
              <a:rPr lang="en-US" sz="135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Scopus · IEEE Xplore · Web of Science</a:t>
            </a:r>
            <a:r>
              <a:rPr lang="en-US" sz="13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(mayo 2026).</a:t>
            </a:r>
            <a:endParaRPr lang="en-US" sz="135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buSzPct val="100000"/>
              <a:buChar char="✓"/>
            </a:pPr>
            <a:r>
              <a:rPr lang="en-US" sz="13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</a:t>
            </a:r>
            <a:r>
              <a:rPr lang="en-US" sz="135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cribado</a:t>
            </a:r>
            <a:r>
              <a:rPr lang="en-US" sz="13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se hizo por </a:t>
            </a:r>
            <a:r>
              <a:rPr lang="en-US" sz="135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título y resumen</a:t>
            </a:r>
            <a:r>
              <a:rPr lang="en-US" sz="13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 solo los elegibles se leyeron a texto completo.</a:t>
            </a:r>
            <a:endParaRPr lang="en-US" sz="135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buSzPct val="100000"/>
              <a:buChar char="✓"/>
            </a:pPr>
            <a:r>
              <a:rPr lang="en-US" sz="13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fases: identificación → cribado → elegibilidad → inclusión.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92240" y="1828800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AAC27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8" name="Text 6"/>
          <p:cNvSpPr/>
          <p:nvPr/>
        </p:nvSpPr>
        <p:spPr>
          <a:xfrm>
            <a:off x="6629400" y="18288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Identificados   </a:t>
            </a: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483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83680" y="2432304"/>
            <a:ext cx="5212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− 66 duplicados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92240" y="2761488"/>
            <a:ext cx="4482389" cy="548640"/>
          </a:xfrm>
          <a:prstGeom prst="roundRect">
            <a:avLst>
              <a:gd name="adj" fmla="val 10000"/>
            </a:avLst>
          </a:prstGeom>
          <a:solidFill>
            <a:srgbClr val="7D9A4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1" name="Text 9"/>
          <p:cNvSpPr/>
          <p:nvPr/>
        </p:nvSpPr>
        <p:spPr>
          <a:xfrm>
            <a:off x="6629400" y="2761488"/>
            <a:ext cx="429950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Cribados · título y resumen   </a:t>
            </a: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417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83680" y="3364992"/>
            <a:ext cx="5212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− 381 excluidos por título y resumen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92240" y="3694176"/>
            <a:ext cx="3752698" cy="548640"/>
          </a:xfrm>
          <a:prstGeom prst="roundRect">
            <a:avLst>
              <a:gd name="adj" fmla="val 10000"/>
            </a:avLst>
          </a:prstGeom>
          <a:solidFill>
            <a:srgbClr val="1FAFB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4" name="Text 12"/>
          <p:cNvSpPr/>
          <p:nvPr/>
        </p:nvSpPr>
        <p:spPr>
          <a:xfrm>
            <a:off x="6629400" y="3694176"/>
            <a:ext cx="35698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Leídos a texto completo   </a:t>
            </a: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83680" y="4297680"/>
            <a:ext cx="5212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− 15 excluidos tras la lectura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92240" y="4626864"/>
            <a:ext cx="3023006" cy="548640"/>
          </a:xfrm>
          <a:prstGeom prst="roundRect">
            <a:avLst>
              <a:gd name="adj" fmla="val 10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7" name="Text 15"/>
          <p:cNvSpPr/>
          <p:nvPr/>
        </p:nvSpPr>
        <p:spPr>
          <a:xfrm>
            <a:off x="6629400" y="4626864"/>
            <a:ext cx="284012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Incluidos ✓   </a:t>
            </a: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632764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9" name="Text 17"/>
          <p:cNvSpPr/>
          <p:nvPr/>
        </p:nvSpPr>
        <p:spPr>
          <a:xfrm>
            <a:off x="502920" y="632764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estudios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011680" y="63276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empírica de las decisiones de diseño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329184"/>
          </a:xfrm>
          <a:prstGeom prst="roundRect">
            <a:avLst>
              <a:gd name="adj" fmla="val 16667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420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33272" y="3840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ESTADO DEL ARTE · HALLAZGOS Y BRECHA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preguntas de investigación → 1 brecha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1874520"/>
            <a:ext cx="731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RQ1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25880" y="1911096"/>
            <a:ext cx="4023360" cy="310896"/>
          </a:xfrm>
          <a:prstGeom prst="roundRect">
            <a:avLst>
              <a:gd name="adj" fmla="val 14706"/>
            </a:avLst>
          </a:prstGeom>
          <a:solidFill>
            <a:srgbClr val="E3E8D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8" name="Shape 6"/>
          <p:cNvSpPr/>
          <p:nvPr/>
        </p:nvSpPr>
        <p:spPr>
          <a:xfrm>
            <a:off x="1325880" y="1911096"/>
            <a:ext cx="4023360" cy="310896"/>
          </a:xfrm>
          <a:prstGeom prst="roundRect">
            <a:avLst>
              <a:gd name="adj" fmla="val 14706"/>
            </a:avLst>
          </a:prstGeom>
          <a:solidFill>
            <a:srgbClr val="7D9A4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9" name="Text 7"/>
          <p:cNvSpPr/>
          <p:nvPr/>
        </p:nvSpPr>
        <p:spPr>
          <a:xfrm>
            <a:off x="5440680" y="187452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386584"/>
            <a:ext cx="731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RQ2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325880" y="2423160"/>
            <a:ext cx="4023360" cy="310896"/>
          </a:xfrm>
          <a:prstGeom prst="roundRect">
            <a:avLst>
              <a:gd name="adj" fmla="val 14706"/>
            </a:avLst>
          </a:prstGeom>
          <a:solidFill>
            <a:srgbClr val="E3E8D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2" name="Shape 10"/>
          <p:cNvSpPr/>
          <p:nvPr/>
        </p:nvSpPr>
        <p:spPr>
          <a:xfrm>
            <a:off x="1325880" y="2423160"/>
            <a:ext cx="2130014" cy="310896"/>
          </a:xfrm>
          <a:prstGeom prst="roundRect">
            <a:avLst>
              <a:gd name="adj" fmla="val 14706"/>
            </a:avLst>
          </a:prstGeom>
          <a:solidFill>
            <a:srgbClr val="7D9A4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3" name="Text 11"/>
          <p:cNvSpPr/>
          <p:nvPr/>
        </p:nvSpPr>
        <p:spPr>
          <a:xfrm>
            <a:off x="5440680" y="238658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898648"/>
            <a:ext cx="731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RQ3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25880" y="2935224"/>
            <a:ext cx="4023360" cy="310896"/>
          </a:xfrm>
          <a:prstGeom prst="roundRect">
            <a:avLst>
              <a:gd name="adj" fmla="val 14706"/>
            </a:avLst>
          </a:prstGeom>
          <a:solidFill>
            <a:srgbClr val="E3E8D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6" name="Shape 14"/>
          <p:cNvSpPr/>
          <p:nvPr/>
        </p:nvSpPr>
        <p:spPr>
          <a:xfrm>
            <a:off x="1325880" y="2935224"/>
            <a:ext cx="3313355" cy="310896"/>
          </a:xfrm>
          <a:prstGeom prst="roundRect">
            <a:avLst>
              <a:gd name="adj" fmla="val 14706"/>
            </a:avLst>
          </a:prstGeom>
          <a:solidFill>
            <a:srgbClr val="7D9A4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7" name="Text 15"/>
          <p:cNvSpPr/>
          <p:nvPr/>
        </p:nvSpPr>
        <p:spPr>
          <a:xfrm>
            <a:off x="5440680" y="289864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3410712"/>
            <a:ext cx="731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RQ4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325880" y="3447288"/>
            <a:ext cx="4023360" cy="310896"/>
          </a:xfrm>
          <a:prstGeom prst="roundRect">
            <a:avLst>
              <a:gd name="adj" fmla="val 14706"/>
            </a:avLst>
          </a:prstGeom>
          <a:solidFill>
            <a:srgbClr val="E3E8D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0" name="Shape 18"/>
          <p:cNvSpPr/>
          <p:nvPr/>
        </p:nvSpPr>
        <p:spPr>
          <a:xfrm>
            <a:off x="1325880" y="3447288"/>
            <a:ext cx="3550024" cy="310896"/>
          </a:xfrm>
          <a:prstGeom prst="roundRect">
            <a:avLst>
              <a:gd name="adj" fmla="val 14706"/>
            </a:avLst>
          </a:prstGeom>
          <a:solidFill>
            <a:srgbClr val="7D9A4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1" name="Text 19"/>
          <p:cNvSpPr/>
          <p:nvPr/>
        </p:nvSpPr>
        <p:spPr>
          <a:xfrm>
            <a:off x="5440680" y="341071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3922776"/>
            <a:ext cx="731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RQ5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325880" y="3959352"/>
            <a:ext cx="4023360" cy="310896"/>
          </a:xfrm>
          <a:prstGeom prst="roundRect">
            <a:avLst>
              <a:gd name="adj" fmla="val 14706"/>
            </a:avLst>
          </a:prstGeom>
          <a:solidFill>
            <a:srgbClr val="E3E8D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4" name="Shape 22"/>
          <p:cNvSpPr/>
          <p:nvPr/>
        </p:nvSpPr>
        <p:spPr>
          <a:xfrm>
            <a:off x="1325880" y="3959352"/>
            <a:ext cx="3076687" cy="310896"/>
          </a:xfrm>
          <a:prstGeom prst="roundRect">
            <a:avLst>
              <a:gd name="adj" fmla="val 14706"/>
            </a:avLst>
          </a:prstGeom>
          <a:solidFill>
            <a:srgbClr val="7D9A4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5" name="Text 23"/>
          <p:cNvSpPr/>
          <p:nvPr/>
        </p:nvSpPr>
        <p:spPr>
          <a:xfrm>
            <a:off x="5440680" y="392277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4526280"/>
            <a:ext cx="5669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Estudios que aportan a cada pregunta (n=21). RQ3 = </a:t>
            </a:r>
            <a:r>
              <a:rPr lang="en-US" sz="1100" b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DCU</a:t>
            </a:r>
            <a:r>
              <a:rPr lang="en-US" sz="1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aunque aparece en 14 estudios, casi siempre de forma </a:t>
            </a:r>
            <a:r>
              <a:rPr lang="en-US" sz="1100" b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tangencial</a:t>
            </a:r>
            <a:r>
              <a:rPr lang="en-US" sz="1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(sin evaluación con usuarios reales); es la dimensión </a:t>
            </a:r>
            <a:r>
              <a:rPr lang="en-US" sz="1100" b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menos desarrollada en profundidad</a:t>
            </a:r>
            <a:r>
              <a:rPr lang="en-US" sz="1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0" y="1828800"/>
            <a:ext cx="50292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✓"/>
            </a:pPr>
            <a:r>
              <a:rPr lang="en-US" sz="13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</a:t>
            </a:r>
            <a:r>
              <a:rPr lang="en-US" sz="13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es condición necesaria para precisión factual.</a:t>
            </a:r>
            <a:endParaRPr lang="en-US" sz="130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buSzPct val="100000"/>
              <a:buChar char="✓"/>
            </a:pPr>
            <a:r>
              <a:rPr lang="en-US" sz="13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</a:t>
            </a:r>
            <a:r>
              <a:rPr lang="en-US" sz="13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estandariza el acceso a datos IoT heterogéneos.</a:t>
            </a:r>
            <a:endParaRPr lang="en-US" sz="130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buSzPct val="100000"/>
              <a:buChar char="✓"/>
            </a:pPr>
            <a:r>
              <a:rPr lang="en-US" sz="13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</a:t>
            </a:r>
            <a:r>
              <a:rPr lang="en-US" sz="13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experiencia de usuario</a:t>
            </a:r>
            <a:r>
              <a:rPr lang="en-US" sz="13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es la asignatura pendiente.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83680" y="3520440"/>
            <a:ext cx="50749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85D0C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9" name="Text 27"/>
          <p:cNvSpPr/>
          <p:nvPr/>
        </p:nvSpPr>
        <p:spPr>
          <a:xfrm>
            <a:off x="6784848" y="365760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🧭  Brecha identificada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4069080"/>
            <a:ext cx="4663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Ningún estudio combina </a:t>
            </a:r>
            <a:r>
              <a:rPr lang="en-US" sz="125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agente LLM + datos edafológicos vía MCP + diseño centrado en el usuario</a:t>
            </a:r>
            <a:r>
              <a:rPr lang="en-US" sz="12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Esa convergencia, en la Región Valles, es la </a:t>
            </a:r>
            <a:r>
              <a:rPr lang="en-US" sz="125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contribución original</a:t>
            </a:r>
            <a:r>
              <a:rPr lang="en-US" sz="12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329184"/>
          </a:xfrm>
          <a:prstGeom prst="roundRect">
            <a:avLst>
              <a:gd name="adj" fmla="val 16667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420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33272" y="3840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METODOLOGÍA DE INVESTIGACIÓN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Science Research (Investigación en Ciencias del Diseño) como marco general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1711909" cy="914400"/>
          </a:xfrm>
          <a:prstGeom prst="roundRect">
            <a:avLst>
              <a:gd name="adj" fmla="val 8000"/>
            </a:avLst>
          </a:prstGeom>
          <a:solidFill>
            <a:srgbClr val="F6F8F0"/>
          </a:solidFill>
          <a:ln w="12700">
            <a:solidFill>
              <a:srgbClr val="DDE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502920" y="1691640"/>
            <a:ext cx="171190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57784" y="1929384"/>
            <a:ext cx="1602181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Problema y motivación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97709" y="1600200"/>
            <a:ext cx="1711909" cy="914400"/>
          </a:xfrm>
          <a:prstGeom prst="roundRect">
            <a:avLst>
              <a:gd name="adj" fmla="val 8000"/>
            </a:avLst>
          </a:prstGeom>
          <a:solidFill>
            <a:srgbClr val="F6F8F0"/>
          </a:solidFill>
          <a:ln w="12700">
            <a:solidFill>
              <a:srgbClr val="DDE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Text 8"/>
          <p:cNvSpPr/>
          <p:nvPr/>
        </p:nvSpPr>
        <p:spPr>
          <a:xfrm>
            <a:off x="2397709" y="1691640"/>
            <a:ext cx="171190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52573" y="1929384"/>
            <a:ext cx="1602181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Objetivos de la solución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92498" y="1600200"/>
            <a:ext cx="1711909" cy="914400"/>
          </a:xfrm>
          <a:prstGeom prst="roundRect">
            <a:avLst>
              <a:gd name="adj" fmla="val 8000"/>
            </a:avLst>
          </a:prstGeom>
          <a:solidFill>
            <a:srgbClr val="F6F8F0"/>
          </a:solidFill>
          <a:ln w="12700">
            <a:solidFill>
              <a:srgbClr val="DDE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Text 11"/>
          <p:cNvSpPr/>
          <p:nvPr/>
        </p:nvSpPr>
        <p:spPr>
          <a:xfrm>
            <a:off x="4292498" y="1691640"/>
            <a:ext cx="171190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47362" y="1929384"/>
            <a:ext cx="1602181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y desarrollo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87288" y="1600200"/>
            <a:ext cx="1711909" cy="914400"/>
          </a:xfrm>
          <a:prstGeom prst="roundRect">
            <a:avLst>
              <a:gd name="adj" fmla="val 8000"/>
            </a:avLst>
          </a:prstGeom>
          <a:solidFill>
            <a:srgbClr val="F6F8F0"/>
          </a:solidFill>
          <a:ln w="12700">
            <a:solidFill>
              <a:srgbClr val="DDE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Text 14"/>
          <p:cNvSpPr/>
          <p:nvPr/>
        </p:nvSpPr>
        <p:spPr>
          <a:xfrm>
            <a:off x="6187288" y="1691640"/>
            <a:ext cx="171190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42152" y="1929384"/>
            <a:ext cx="1602181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Demostración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82077" y="1600200"/>
            <a:ext cx="1711909" cy="914400"/>
          </a:xfrm>
          <a:prstGeom prst="roundRect">
            <a:avLst>
              <a:gd name="adj" fmla="val 8000"/>
            </a:avLst>
          </a:prstGeom>
          <a:solidFill>
            <a:srgbClr val="F6F8F0"/>
          </a:solidFill>
          <a:ln w="12700">
            <a:solidFill>
              <a:srgbClr val="DDE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9" name="Text 17"/>
          <p:cNvSpPr/>
          <p:nvPr/>
        </p:nvSpPr>
        <p:spPr>
          <a:xfrm>
            <a:off x="8082077" y="1691640"/>
            <a:ext cx="171190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136941" y="1929384"/>
            <a:ext cx="1602181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Evaluación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976866" y="1600200"/>
            <a:ext cx="1711909" cy="914400"/>
          </a:xfrm>
          <a:prstGeom prst="roundRect">
            <a:avLst>
              <a:gd name="adj" fmla="val 8000"/>
            </a:avLst>
          </a:prstGeom>
          <a:solidFill>
            <a:srgbClr val="F6F8F0"/>
          </a:solidFill>
          <a:ln w="12700">
            <a:solidFill>
              <a:srgbClr val="DDE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2" name="Text 20"/>
          <p:cNvSpPr/>
          <p:nvPr/>
        </p:nvSpPr>
        <p:spPr>
          <a:xfrm>
            <a:off x="9976866" y="1691640"/>
            <a:ext cx="171190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31730" y="1929384"/>
            <a:ext cx="1602181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Comunicación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2697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Tres metodologías anidadas dentro del DSR (Peffers et al., 2007):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3154680"/>
            <a:ext cx="354573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6" name="Shape 24"/>
          <p:cNvSpPr/>
          <p:nvPr/>
        </p:nvSpPr>
        <p:spPr>
          <a:xfrm>
            <a:off x="66751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FAFB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7" name="Text 25"/>
          <p:cNvSpPr/>
          <p:nvPr/>
        </p:nvSpPr>
        <p:spPr>
          <a:xfrm>
            <a:off x="667512" y="3319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🔬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52728" y="330098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RSL · PICO + PRISMA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04088" y="3886200"/>
            <a:ext cx="314340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Fases 1–2: fundamenta el problema y los objetivos.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322978" y="3154680"/>
            <a:ext cx="354573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31" name="Shape 29"/>
          <p:cNvSpPr/>
          <p:nvPr/>
        </p:nvSpPr>
        <p:spPr>
          <a:xfrm>
            <a:off x="4487570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5D0C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2" name="Text 30"/>
          <p:cNvSpPr/>
          <p:nvPr/>
        </p:nvSpPr>
        <p:spPr>
          <a:xfrm>
            <a:off x="4487570" y="3319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🔄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072786" y="330098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Prototipado evolutivo (Sommerville, 2011)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24146" y="3886200"/>
            <a:ext cx="314340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3: baja fidelidad → funcional → sistema final.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143037" y="3154680"/>
            <a:ext cx="354573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D0"/>
            </a:solidFill>
            <a:prstDash val="solid"/>
          </a:ln>
          <a:effectLst>
            <a:outerShdw blurRad="76200" dist="25400" dir="5400000" algn="bl" rotWithShape="0">
              <a:srgbClr val="B9C3A8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36" name="Shape 34"/>
          <p:cNvSpPr/>
          <p:nvPr/>
        </p:nvSpPr>
        <p:spPr>
          <a:xfrm>
            <a:off x="8307629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7" name="Text 35"/>
          <p:cNvSpPr/>
          <p:nvPr/>
        </p:nvSpPr>
        <p:spPr>
          <a:xfrm>
            <a:off x="8307629" y="3319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🧑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892845" y="3300984"/>
            <a:ext cx="265877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DCU · ISO 9241-210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344205" y="3886200"/>
            <a:ext cx="314340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Fases 4–5: evaluación iterativa con usuarios reales.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02920" y="4709160"/>
            <a:ext cx="11185855" cy="1325880"/>
          </a:xfrm>
          <a:prstGeom prst="roundRect">
            <a:avLst>
              <a:gd name="adj" fmla="val 6897"/>
            </a:avLst>
          </a:prstGeom>
          <a:solidFill>
            <a:srgbClr val="F6F8F0"/>
          </a:solidFill>
          <a:ln w="12700">
            <a:solidFill>
              <a:srgbClr val="DDE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1" name="Text 39"/>
          <p:cNvSpPr/>
          <p:nvPr/>
        </p:nvSpPr>
        <p:spPr>
          <a:xfrm>
            <a:off x="777240" y="4709160"/>
            <a:ext cx="10637215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¿Por qué prototipado evolutivo?  </a:t>
            </a:r>
            <a:r>
              <a:rPr lang="en-US" sz="12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 requerimientos no se conocen por completo de inicio y los usuarios finales son productores no expertos: construir sobre un prototipo que se refina con su retroalimentación reduce el riesgo y valida cada incremento antes de invertir en el sistema final, frente a un modelo en cascada de requisitos cerrados.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329184"/>
          </a:xfrm>
          <a:prstGeom prst="roundRect">
            <a:avLst>
              <a:gd name="adj" fmla="val 16667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420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33272" y="3840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AVANCES DE LA PROPUESTA · ARQUITECTURA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capas desacopladas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7780">
            <a:solidFill>
              <a:srgbClr val="1FAFB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09728" cy="713232"/>
          </a:xfrm>
          <a:prstGeom prst="roundRect">
            <a:avLst/>
          </a:prstGeom>
          <a:solidFill>
            <a:srgbClr val="1FAFB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8" name="Text 6"/>
          <p:cNvSpPr/>
          <p:nvPr/>
        </p:nvSpPr>
        <p:spPr>
          <a:xfrm>
            <a:off x="777240" y="169164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Adquisición — Hardware IoT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Nodos (ESP32) con sensores de aire, clima y suelo · identificados por MAC.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38658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 /api/guardarMuestras (JWT)  ▼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2920" y="2642616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7780">
            <a:solidFill>
              <a:srgbClr val="7D9A4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Shape 9"/>
          <p:cNvSpPr/>
          <p:nvPr/>
        </p:nvSpPr>
        <p:spPr>
          <a:xfrm>
            <a:off x="502920" y="2642616"/>
            <a:ext cx="109728" cy="713232"/>
          </a:xfrm>
          <a:prstGeom prst="roundRect">
            <a:avLst/>
          </a:prstGeom>
          <a:solidFill>
            <a:srgbClr val="7D9A4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2" name="Text 10"/>
          <p:cNvSpPr/>
          <p:nvPr/>
        </p:nvSpPr>
        <p:spPr>
          <a:xfrm>
            <a:off x="777240" y="2642616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/ Lógica de negocio — Laravel 10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Autenticación JWT · ingesta · CRUD · estadísticas y comparativas.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02920" y="333756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▼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3593592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7780">
            <a:solidFill>
              <a:srgbClr val="5A723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Shape 13"/>
          <p:cNvSpPr/>
          <p:nvPr/>
        </p:nvSpPr>
        <p:spPr>
          <a:xfrm>
            <a:off x="502920" y="3593592"/>
            <a:ext cx="109728" cy="713232"/>
          </a:xfrm>
          <a:prstGeom prst="roundRect">
            <a:avLst/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6" name="Text 14"/>
          <p:cNvSpPr/>
          <p:nvPr/>
        </p:nvSpPr>
        <p:spPr>
          <a:xfrm>
            <a:off x="777240" y="3593592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Datos — MySQL 8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Áreas, nodos IoT, sensores, armados, muestras, usuarios y roles.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02920" y="4288536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▲ REST /api (Axios + JWT)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4544568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7780">
            <a:solidFill>
              <a:srgbClr val="3F4F5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9" name="Shape 17"/>
          <p:cNvSpPr/>
          <p:nvPr/>
        </p:nvSpPr>
        <p:spPr>
          <a:xfrm>
            <a:off x="502920" y="4544568"/>
            <a:ext cx="109728" cy="713232"/>
          </a:xfrm>
          <a:prstGeom prst="roundRect">
            <a:avLst/>
          </a:prstGeom>
          <a:solidFill>
            <a:srgbClr val="3F4F59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0" name="Text 18"/>
          <p:cNvSpPr/>
          <p:nvPr/>
        </p:nvSpPr>
        <p:spPr>
          <a:xfrm>
            <a:off x="777240" y="4544568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Presentación — SPA Vue 3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Monitoreo en tiempo real · estadísticas · administración · reportes PDF.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5239512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◀ ▶ widget de chat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5495544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7780">
            <a:solidFill>
              <a:srgbClr val="E85D0C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3" name="Shape 21"/>
          <p:cNvSpPr/>
          <p:nvPr/>
        </p:nvSpPr>
        <p:spPr>
          <a:xfrm>
            <a:off x="502920" y="5495544"/>
            <a:ext cx="109728" cy="713232"/>
          </a:xfrm>
          <a:prstGeom prst="roundRect">
            <a:avLst/>
          </a:prstGeom>
          <a:solidFill>
            <a:srgbClr val="E85D0C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4" name="Text 22"/>
          <p:cNvSpPr/>
          <p:nvPr/>
        </p:nvSpPr>
        <p:spPr>
          <a:xfrm>
            <a:off x="777240" y="5495544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Inteligencia conversacional — EcoFlow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n8n orquesta · servidor MCP (solo lectura) · LLM en la nube.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686800" y="3931920"/>
            <a:ext cx="301752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1FAFB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6" name="Shape 24"/>
          <p:cNvSpPr/>
          <p:nvPr/>
        </p:nvSpPr>
        <p:spPr>
          <a:xfrm>
            <a:off x="8796528" y="4334256"/>
            <a:ext cx="658368" cy="658368"/>
          </a:xfrm>
          <a:prstGeom prst="ellipse">
            <a:avLst/>
          </a:prstGeom>
          <a:solidFill>
            <a:srgbClr val="E7F6F8"/>
          </a:solidFill>
          <a:ln w="12700">
            <a:solidFill>
              <a:srgbClr val="1FAFB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27" name="Image 0" descr="C:\Users\Nacho Andrade\Documents\Claude\Projects\Tesis Nacho\Presentacion_Avances\assets\ecoflow_idl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832068" y="4371694"/>
            <a:ext cx="510339" cy="585389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9582912" y="402336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AF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EcoFlow  </a:t>
            </a: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¡Yo vivo en la capa 5! Traduzco tus preguntas y consulto los datos por </a:t>
            </a:r>
            <a:r>
              <a:rPr lang="en-US" sz="11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</a:t>
            </a: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329184"/>
          </a:xfrm>
          <a:prstGeom prst="roundRect">
            <a:avLst>
              <a:gd name="adj" fmla="val 16667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420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33272" y="3840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ELEMENTOS DE SOFTWARE Y HARDWARE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stack y los sensores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548640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6510">
            <a:solidFill>
              <a:srgbClr val="5A723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🗄️  Software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04288"/>
          <a:ext cx="4800600" cy="219456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7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Capa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72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Tecnología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72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F4F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PHP 8.2 · Laravel 10 · JWT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F4F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Datos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MySQL 8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F4F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Frontend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Vue 3 · Vite · Pinia · Chart.js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F4F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n8n · servidor MCP · LLM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F4F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Docker · Nginx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63640" y="1737360"/>
            <a:ext cx="5425135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6510">
            <a:solidFill>
              <a:srgbClr val="1FAFB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Text 7"/>
          <p:cNvSpPr/>
          <p:nvPr/>
        </p:nvSpPr>
        <p:spPr>
          <a:xfrm>
            <a:off x="6492240" y="1874520"/>
            <a:ext cx="4967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AF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  Hardware — nodos IoT (ESP32)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92240" y="2286000"/>
            <a:ext cx="4967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sensores en 4 dominios. Cada uno con umbrales bajo / medio / alto.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92240" y="2788920"/>
            <a:ext cx="4967935" cy="402336"/>
          </a:xfrm>
          <a:prstGeom prst="roundRect">
            <a:avLst>
              <a:gd name="adj" fmla="val 22727"/>
            </a:avLst>
          </a:prstGeom>
          <a:solidFill>
            <a:srgbClr val="EAF0D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8" name="Text 10"/>
          <p:cNvSpPr/>
          <p:nvPr/>
        </p:nvSpPr>
        <p:spPr>
          <a:xfrm>
            <a:off x="6647688" y="2788920"/>
            <a:ext cx="4693615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Aire: DHT11 · BMP280 · PMS5003 · MH-Z16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492240" y="3246120"/>
            <a:ext cx="4967935" cy="402336"/>
          </a:xfrm>
          <a:prstGeom prst="roundRect">
            <a:avLst>
              <a:gd name="adj" fmla="val 22727"/>
            </a:avLst>
          </a:prstGeom>
          <a:solidFill>
            <a:srgbClr val="EAF0D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5" name="Text 12"/>
          <p:cNvSpPr/>
          <p:nvPr/>
        </p:nvSpPr>
        <p:spPr>
          <a:xfrm>
            <a:off x="6647688" y="3246120"/>
            <a:ext cx="4693615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Radiación: GUVA · BH1750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92240" y="3703320"/>
            <a:ext cx="4967935" cy="402336"/>
          </a:xfrm>
          <a:prstGeom prst="roundRect">
            <a:avLst>
              <a:gd name="adj" fmla="val 22727"/>
            </a:avLst>
          </a:prstGeom>
          <a:solidFill>
            <a:srgbClr val="EAF0D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7" name="Text 14"/>
          <p:cNvSpPr/>
          <p:nvPr/>
        </p:nvSpPr>
        <p:spPr>
          <a:xfrm>
            <a:off x="6647688" y="3703320"/>
            <a:ext cx="4693615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Clima: pluviómetro · anemómetro · veleta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492240" y="4160520"/>
            <a:ext cx="4967935" cy="402336"/>
          </a:xfrm>
          <a:prstGeom prst="roundRect">
            <a:avLst>
              <a:gd name="adj" fmla="val 22727"/>
            </a:avLst>
          </a:prstGeom>
          <a:solidFill>
            <a:srgbClr val="FCEDE1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9" name="Text 16"/>
          <p:cNvSpPr/>
          <p:nvPr/>
        </p:nvSpPr>
        <p:spPr>
          <a:xfrm>
            <a:off x="6647688" y="4160520"/>
            <a:ext cx="4693615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Suelo (NPK): JXBS-3001 N·P·K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68680" y="48920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4200" dirty="0"/>
          </a:p>
        </p:txBody>
      </p:sp>
      <p:sp>
        <p:nvSpPr>
          <p:cNvPr id="21" name="Text 18"/>
          <p:cNvSpPr/>
          <p:nvPr/>
        </p:nvSpPr>
        <p:spPr>
          <a:xfrm>
            <a:off x="868680" y="551383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sensores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657600" y="48920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4200" dirty="0"/>
          </a:p>
        </p:txBody>
      </p:sp>
      <p:sp>
        <p:nvSpPr>
          <p:cNvPr id="23" name="Text 20"/>
          <p:cNvSpPr/>
          <p:nvPr/>
        </p:nvSpPr>
        <p:spPr>
          <a:xfrm>
            <a:off x="3657600" y="551383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dominios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46520" y="48920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4200" dirty="0"/>
          </a:p>
        </p:txBody>
      </p:sp>
      <p:sp>
        <p:nvSpPr>
          <p:cNvPr id="25" name="Text 22"/>
          <p:cNvSpPr/>
          <p:nvPr/>
        </p:nvSpPr>
        <p:spPr>
          <a:xfrm>
            <a:off x="6446520" y="551383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235440" y="48920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4200" dirty="0"/>
          </a:p>
        </p:txBody>
      </p:sp>
      <p:sp>
        <p:nvSpPr>
          <p:cNvPr id="27" name="Text 24"/>
          <p:cNvSpPr/>
          <p:nvPr/>
        </p:nvSpPr>
        <p:spPr>
          <a:xfrm>
            <a:off x="9235440" y="551383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herramientas MCP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329184"/>
          </a:xfrm>
          <a:prstGeom prst="roundRect">
            <a:avLst>
              <a:gd name="adj" fmla="val 16667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420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33272" y="3840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ANÁLISIS DE REQUERIMIENTOS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funcionales · 9 no funcionales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011680" y="16916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2011680" y="231343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Funcionales (RF)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16916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846320" y="231343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funcionales (RNF)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680960" y="16916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7680960" y="231343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Módulos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017520"/>
            <a:ext cx="5455768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6510">
            <a:solidFill>
              <a:srgbClr val="5A723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Text 11"/>
          <p:cNvSpPr/>
          <p:nvPr/>
        </p:nvSpPr>
        <p:spPr>
          <a:xfrm>
            <a:off x="731520" y="3154680"/>
            <a:ext cx="49985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⚙️  Funcionales (muestra)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3611880"/>
            <a:ext cx="4907128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✓"/>
            </a:pPr>
            <a:r>
              <a:rPr lang="en-US" sz="12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RF-03</a:t>
            </a:r>
            <a:r>
              <a:rPr lang="en-US" sz="12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Recibir y almacenar muestras de los nodos.</a:t>
            </a:r>
            <a:endParaRPr lang="en-US" sz="120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buSzPct val="100000"/>
              <a:buChar char="✓"/>
            </a:pPr>
            <a:r>
              <a:rPr lang="en-US" sz="12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RF-08</a:t>
            </a:r>
            <a:r>
              <a:rPr lang="en-US" sz="12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Monitoreo en tiempo real con umbrales.</a:t>
            </a:r>
            <a:endParaRPr lang="en-US" sz="120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buSzPct val="100000"/>
              <a:buChar char="✓"/>
            </a:pPr>
            <a:r>
              <a:rPr lang="en-US" sz="12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RF-09/10</a:t>
            </a:r>
            <a:r>
              <a:rPr lang="en-US" sz="12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Estadísticas y comparativas entre nodos.</a:t>
            </a:r>
            <a:endParaRPr lang="en-US" sz="120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buSzPct val="100000"/>
              <a:buChar char="✓"/>
            </a:pPr>
            <a:r>
              <a:rPr lang="en-US" sz="12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RF-14</a:t>
            </a:r>
            <a:r>
              <a:rPr lang="en-US" sz="12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Consulta en lenguaje natural (LLM + MCP).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3017520"/>
            <a:ext cx="5455768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6510">
            <a:solidFill>
              <a:srgbClr val="E85D0C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Text 14"/>
          <p:cNvSpPr/>
          <p:nvPr/>
        </p:nvSpPr>
        <p:spPr>
          <a:xfrm>
            <a:off x="6461608" y="3154680"/>
            <a:ext cx="49985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5D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🛡️  No funcionales (muestra)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507328" y="3611880"/>
            <a:ext cx="4907128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✓"/>
            </a:pPr>
            <a:r>
              <a:rPr lang="en-US" sz="12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RNF-01</a:t>
            </a:r>
            <a:r>
              <a:rPr lang="en-US" sz="12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API protegida con JWT.</a:t>
            </a:r>
            <a:endParaRPr lang="en-US" sz="120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buSzPct val="100000"/>
              <a:buChar char="✓"/>
            </a:pPr>
            <a:r>
              <a:rPr lang="en-US" sz="12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RNF-02</a:t>
            </a:r>
            <a:r>
              <a:rPr lang="en-US" sz="12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Roles: Admin · Normal · Invitado.</a:t>
            </a:r>
            <a:endParaRPr lang="en-US" sz="120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buSzPct val="100000"/>
              <a:buChar char="✓"/>
            </a:pPr>
            <a:r>
              <a:rPr lang="en-US" sz="12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RNF-03</a:t>
            </a:r>
            <a:r>
              <a:rPr lang="en-US" sz="12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Interfaz responsiva (móvil → 4K).</a:t>
            </a:r>
            <a:endParaRPr lang="en-US" sz="120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buSzPct val="100000"/>
              <a:buChar char="✓"/>
            </a:pPr>
            <a:r>
              <a:rPr lang="en-US" sz="12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RNF-09</a:t>
            </a:r>
            <a:r>
              <a:rPr lang="en-US" sz="12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IA accede solo vía MCP (solo lectura).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632764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9" name="Text 17"/>
          <p:cNvSpPr/>
          <p:nvPr/>
        </p:nvSpPr>
        <p:spPr>
          <a:xfrm>
            <a:off x="502920" y="632764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Trazabilidad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011680" y="63276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requerimiento ↔ componente (matriz en anexos)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329184"/>
          </a:xfrm>
          <a:prstGeom prst="roundRect">
            <a:avLst>
              <a:gd name="adj" fmla="val 16667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420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★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33272" y="3840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SEGUIMIENTO · REVISIÓN DEL PROTOCOLO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Atención a las observaciones del protocolo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Correcciones al documento de protocolo, incorporadas en el manuscrito de este semestre.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65960"/>
          <a:ext cx="11183112" cy="1912620"/>
        </p:xfrm>
        <a:graphic>
          <a:graphicData uri="http://schemas.openxmlformats.org/drawingml/2006/table">
            <a:tbl>
              <a:tblPr/>
              <a:tblGrid>
                <a:gridCol w="4480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Observación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Cómo se atendió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El título era demasiado extenso.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D8C3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reformuló el título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para precisar el alcance: monitoreo medioambiental y edafológico + agente inteligente para la interpretación de datos.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Faltaba contextualizar qué sistemas similares existen y el punto de partida del proyecto.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D8C3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 amplió la justificación: se exponen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sistemas existentes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y su oferta, y se aclara que el proyecto parte de un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nodo prototipo en CUValles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para escalar a la Región Valles.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se definían los beneficiarios ni con ejemplos del lenguaje técnico.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D8C3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 especificaron los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usuarios objetivo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(agricultores, ganaderos, biólogos, ecologistas, gobierno, protección civil) y se añadieron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ejemplos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del dato técnico y su interpretación.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Redacción contradictoria sobre el público (¿sin o con formación técnica?).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D8C3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 corrigió: el sistema apoya a usuarios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sin formación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técnica y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también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a especialistas.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 la RSL convenía apegarse mejor al estándar PRISMA.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D8C3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 siguió el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checklist PRISMA 2020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y se integraron las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referencias metodológicas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recomendadas.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329184"/>
          </a:xfrm>
          <a:prstGeom prst="roundRect">
            <a:avLst>
              <a:gd name="adj" fmla="val 16667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420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★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33272" y="3840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SEGUIMIENTO · SEMINARIO 1.ER SEMESTRE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Atención a las observaciones del seminario anterior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observación recibida en el seminario anterior fue atendida en el manuscrito de este semestre.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65960"/>
          <a:ext cx="11183112" cy="1912620"/>
        </p:xfrm>
        <a:graphic>
          <a:graphicData uri="http://schemas.openxmlformats.org/drawingml/2006/table">
            <a:tbl>
              <a:tblPr/>
              <a:tblGrid>
                <a:gridCol w="4480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Observación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Cómo se atendió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F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Frases muy largas y redacción que mezcla lo hecho con lo planeado.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D8C3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Frases divididas a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máx. 2–3 renglones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y descripción reescrita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 futuro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, distinguiendo lo realizado de lo planeado.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Objetivo general extenso; objetivos específicos parecían requerimientos.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D8C3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Objetivo general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más compacto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y objetivos específicos reformulados con criterios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SMART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, separados de los requerimientos.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Abreviaturas repetidas (LLM, RAG…) y traducción de RAG inconsistente.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D8C3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Abreviaturas definidas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solo en su primera aparición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y traducción de RAG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homogeneizada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 PRISMA, la cadena de búsqueda se generaba antes que las preguntas.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D8C3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Las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preguntas de investigación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se definen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antes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de construir la cadena de búsqueda.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Sobra la definición en alcances/limitaciones; y columnas repetidas en el cronograma.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D8C3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quitaron las definiciones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de alcances y limitaciones y se </a:t>
                      </a:r>
                      <a:r>
                        <a:rPr lang="en-US" sz="1050" b="1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simplificó el cronograma</a:t>
                      </a:r>
                      <a:r>
                        <a:rPr lang="en-US" sz="1050" dirty="0">
                          <a:solidFill>
                            <a:srgbClr val="2A32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329184"/>
          </a:xfrm>
          <a:prstGeom prst="roundRect">
            <a:avLst>
              <a:gd name="adj" fmla="val 16667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420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33272" y="3840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RETRIBUCIÓN SOCIAL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Retribución social del semestre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4754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7780">
            <a:solidFill>
              <a:srgbClr val="5A723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Shape 5"/>
          <p:cNvSpPr/>
          <p:nvPr/>
        </p:nvSpPr>
        <p:spPr>
          <a:xfrm>
            <a:off x="2468880" y="2148840"/>
            <a:ext cx="822960" cy="822960"/>
          </a:xfrm>
          <a:prstGeom prst="roundRect">
            <a:avLst>
              <a:gd name="adj" fmla="val 15556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8" name="Text 6"/>
          <p:cNvSpPr/>
          <p:nvPr/>
        </p:nvSpPr>
        <p:spPr>
          <a:xfrm>
            <a:off x="2468880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🤝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310896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Proyecto SGPI · periodo 2026A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103120" y="37033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2D8C31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1" name="Text 9"/>
          <p:cNvSpPr/>
          <p:nvPr/>
        </p:nvSpPr>
        <p:spPr>
          <a:xfrm>
            <a:off x="2103120" y="37033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Cumplida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425196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 para la Gestión de Proyectos de Investigación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852160" y="2011680"/>
            <a:ext cx="5760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✓"/>
            </a:pPr>
            <a:r>
              <a:rPr lang="en-US" sz="14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Colaboración en el proyecto </a:t>
            </a:r>
            <a:r>
              <a:rPr lang="en-US" sz="14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 para la Gestión de Proyectos de Investigación (SGPI)</a:t>
            </a:r>
            <a:r>
              <a:rPr lang="en-US" sz="14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durante el </a:t>
            </a:r>
            <a:r>
              <a:rPr lang="en-US" sz="14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periodo 2026A</a:t>
            </a:r>
            <a:r>
              <a:rPr lang="en-US" sz="14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40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buSzPct val="100000"/>
              <a:buChar char="✓"/>
            </a:pPr>
            <a:r>
              <a:rPr lang="en-US" sz="14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Aporte en ingeniería de software al desarrollo del SGPI, aplicando los conocimientos de la maestría.</a:t>
            </a:r>
            <a:endParaRPr lang="en-US" sz="140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buSzPct val="100000"/>
              <a:buChar char="✓"/>
            </a:pPr>
            <a:r>
              <a:rPr lang="en-US" sz="14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 3.er semestre: planeación de </a:t>
            </a:r>
            <a:r>
              <a:rPr lang="en-US" sz="1400" b="1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créditos de movilidad</a:t>
            </a:r>
            <a:r>
              <a:rPr lang="en-US" sz="14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carta de invitación.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329184"/>
          </a:xfrm>
          <a:prstGeom prst="roundRect">
            <a:avLst>
              <a:gd name="adj" fmla="val 16667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420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33272" y="3840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CRONOGRAMA DE ACTIVIDADES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de trabajo · cuatro semestres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septiembre 2025 a septiembre 2027.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794760" y="1947672"/>
            <a:ext cx="1973504" cy="274320"/>
          </a:xfrm>
          <a:prstGeom prst="rect">
            <a:avLst/>
          </a:prstGeom>
          <a:solidFill>
            <a:srgbClr val="F6F8F0"/>
          </a:solidFill>
          <a:ln w="6350">
            <a:solidFill>
              <a:srgbClr val="DDE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Text 6"/>
          <p:cNvSpPr/>
          <p:nvPr/>
        </p:nvSpPr>
        <p:spPr>
          <a:xfrm>
            <a:off x="3794760" y="1947672"/>
            <a:ext cx="1973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1.º sem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768264" y="1947672"/>
            <a:ext cx="1973504" cy="274320"/>
          </a:xfrm>
          <a:prstGeom prst="rect">
            <a:avLst/>
          </a:prstGeom>
          <a:solidFill>
            <a:srgbClr val="E8E0CF"/>
          </a:solidFill>
          <a:ln w="6350">
            <a:solidFill>
              <a:srgbClr val="DDE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Text 8"/>
          <p:cNvSpPr/>
          <p:nvPr/>
        </p:nvSpPr>
        <p:spPr>
          <a:xfrm>
            <a:off x="5768264" y="1947672"/>
            <a:ext cx="1973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2.º sem (actual)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41768" y="1947672"/>
            <a:ext cx="1973504" cy="274320"/>
          </a:xfrm>
          <a:prstGeom prst="rect">
            <a:avLst/>
          </a:prstGeom>
          <a:solidFill>
            <a:srgbClr val="F6F8F0"/>
          </a:solidFill>
          <a:ln w="6350">
            <a:solidFill>
              <a:srgbClr val="DDE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Text 10"/>
          <p:cNvSpPr/>
          <p:nvPr/>
        </p:nvSpPr>
        <p:spPr>
          <a:xfrm>
            <a:off x="7741768" y="1947672"/>
            <a:ext cx="1973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3.º sem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715271" y="1947672"/>
            <a:ext cx="1973504" cy="274320"/>
          </a:xfrm>
          <a:prstGeom prst="rect">
            <a:avLst/>
          </a:prstGeom>
          <a:solidFill>
            <a:srgbClr val="F6F8F0"/>
          </a:solidFill>
          <a:ln w="6350">
            <a:solidFill>
              <a:srgbClr val="DDE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Text 12"/>
          <p:cNvSpPr/>
          <p:nvPr/>
        </p:nvSpPr>
        <p:spPr>
          <a:xfrm>
            <a:off x="9715271" y="1947672"/>
            <a:ext cx="1973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4.º sem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2240280"/>
            <a:ext cx="11185855" cy="301752"/>
          </a:xfrm>
          <a:prstGeom prst="rect">
            <a:avLst/>
          </a:prstGeom>
          <a:solidFill>
            <a:srgbClr val="F2F5E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6" name="Text 14"/>
          <p:cNvSpPr/>
          <p:nvPr/>
        </p:nvSpPr>
        <p:spPr>
          <a:xfrm>
            <a:off x="502920" y="2240280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Protocolo, anteproyecto y RSL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94760" y="2295144"/>
            <a:ext cx="1641955" cy="192024"/>
          </a:xfrm>
          <a:prstGeom prst="roundRect">
            <a:avLst>
              <a:gd name="adj" fmla="val 19048"/>
            </a:avLst>
          </a:prstGeom>
          <a:solidFill>
            <a:srgbClr val="7D9A4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8" name="Text 16"/>
          <p:cNvSpPr/>
          <p:nvPr/>
        </p:nvSpPr>
        <p:spPr>
          <a:xfrm>
            <a:off x="502920" y="2542032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1.ª presentación de avances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81512" y="2596896"/>
            <a:ext cx="331549" cy="192024"/>
          </a:xfrm>
          <a:prstGeom prst="roundRect">
            <a:avLst>
              <a:gd name="adj" fmla="val 19048"/>
            </a:avLst>
          </a:prstGeom>
          <a:solidFill>
            <a:srgbClr val="7D9A4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0" name="Shape 18"/>
          <p:cNvSpPr/>
          <p:nvPr/>
        </p:nvSpPr>
        <p:spPr>
          <a:xfrm>
            <a:off x="502920" y="2843784"/>
            <a:ext cx="11185855" cy="301752"/>
          </a:xfrm>
          <a:prstGeom prst="rect">
            <a:avLst/>
          </a:prstGeom>
          <a:solidFill>
            <a:srgbClr val="F2F5E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1" name="Text 19"/>
          <p:cNvSpPr/>
          <p:nvPr/>
        </p:nvSpPr>
        <p:spPr>
          <a:xfrm>
            <a:off x="502920" y="2843784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Redacción de tesis · parte 1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36715" y="2898648"/>
            <a:ext cx="331549" cy="192024"/>
          </a:xfrm>
          <a:prstGeom prst="roundRect">
            <a:avLst>
              <a:gd name="adj" fmla="val 19048"/>
            </a:avLst>
          </a:prstGeom>
          <a:solidFill>
            <a:srgbClr val="7D9A4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3" name="Text 21"/>
          <p:cNvSpPr/>
          <p:nvPr/>
        </p:nvSpPr>
        <p:spPr>
          <a:xfrm>
            <a:off x="502920" y="3145536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Capacitación MCP y elicitación de req.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768264" y="3200400"/>
            <a:ext cx="655203" cy="192024"/>
          </a:xfrm>
          <a:prstGeom prst="roundRect">
            <a:avLst>
              <a:gd name="adj" fmla="val 19048"/>
            </a:avLst>
          </a:prstGeom>
          <a:solidFill>
            <a:srgbClr val="7D9A4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5" name="Shape 23"/>
          <p:cNvSpPr/>
          <p:nvPr/>
        </p:nvSpPr>
        <p:spPr>
          <a:xfrm>
            <a:off x="502920" y="3447288"/>
            <a:ext cx="11185855" cy="301752"/>
          </a:xfrm>
          <a:prstGeom prst="rect">
            <a:avLst/>
          </a:prstGeom>
          <a:solidFill>
            <a:srgbClr val="F2F5E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6" name="Text 24"/>
          <p:cNvSpPr/>
          <p:nvPr/>
        </p:nvSpPr>
        <p:spPr>
          <a:xfrm>
            <a:off x="502920" y="3447288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Análisis y diseño del software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23467" y="3502152"/>
            <a:ext cx="655203" cy="192024"/>
          </a:xfrm>
          <a:prstGeom prst="roundRect">
            <a:avLst>
              <a:gd name="adj" fmla="val 19048"/>
            </a:avLst>
          </a:prstGeom>
          <a:solidFill>
            <a:srgbClr val="F26B1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8" name="Text 26"/>
          <p:cNvSpPr/>
          <p:nvPr/>
        </p:nvSpPr>
        <p:spPr>
          <a:xfrm>
            <a:off x="502920" y="3749040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2.ª presentación de avances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086564" y="3803904"/>
            <a:ext cx="331549" cy="192024"/>
          </a:xfrm>
          <a:prstGeom prst="roundRect">
            <a:avLst>
              <a:gd name="adj" fmla="val 19048"/>
            </a:avLst>
          </a:prstGeom>
          <a:solidFill>
            <a:srgbClr val="5D718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0" name="Shape 28"/>
          <p:cNvSpPr/>
          <p:nvPr/>
        </p:nvSpPr>
        <p:spPr>
          <a:xfrm>
            <a:off x="502920" y="4050792"/>
            <a:ext cx="11185855" cy="301752"/>
          </a:xfrm>
          <a:prstGeom prst="rect">
            <a:avLst/>
          </a:prstGeom>
          <a:solidFill>
            <a:srgbClr val="F2F5E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1" name="Text 29"/>
          <p:cNvSpPr/>
          <p:nvPr/>
        </p:nvSpPr>
        <p:spPr>
          <a:xfrm>
            <a:off x="502920" y="4050792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Desarrollo de software (back y front)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086564" y="4105656"/>
            <a:ext cx="655203" cy="192024"/>
          </a:xfrm>
          <a:prstGeom prst="roundRect">
            <a:avLst>
              <a:gd name="adj" fmla="val 19048"/>
            </a:avLst>
          </a:prstGeom>
          <a:solidFill>
            <a:srgbClr val="5D718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3" name="Text 31"/>
          <p:cNvSpPr/>
          <p:nvPr/>
        </p:nvSpPr>
        <p:spPr>
          <a:xfrm>
            <a:off x="502920" y="4352544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Servidor MCP y redacción · parte 2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741768" y="4407408"/>
            <a:ext cx="986752" cy="192024"/>
          </a:xfrm>
          <a:prstGeom prst="roundRect">
            <a:avLst>
              <a:gd name="adj" fmla="val 19048"/>
            </a:avLst>
          </a:prstGeom>
          <a:solidFill>
            <a:srgbClr val="5D718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5" name="Shape 33"/>
          <p:cNvSpPr/>
          <p:nvPr/>
        </p:nvSpPr>
        <p:spPr>
          <a:xfrm>
            <a:off x="502920" y="4654296"/>
            <a:ext cx="11185855" cy="301752"/>
          </a:xfrm>
          <a:prstGeom prst="rect">
            <a:avLst/>
          </a:prstGeom>
          <a:solidFill>
            <a:srgbClr val="F2F5E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6" name="Text 34"/>
          <p:cNvSpPr/>
          <p:nvPr/>
        </p:nvSpPr>
        <p:spPr>
          <a:xfrm>
            <a:off x="502920" y="4654296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3.ª presentación y despliegue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728520" y="4709160"/>
            <a:ext cx="986752" cy="192024"/>
          </a:xfrm>
          <a:prstGeom prst="roundRect">
            <a:avLst>
              <a:gd name="adj" fmla="val 19048"/>
            </a:avLst>
          </a:prstGeom>
          <a:solidFill>
            <a:srgbClr val="5D718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8" name="Text 36"/>
          <p:cNvSpPr/>
          <p:nvPr/>
        </p:nvSpPr>
        <p:spPr>
          <a:xfrm>
            <a:off x="502920" y="4956048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Pruebas y validaciones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715271" y="5010912"/>
            <a:ext cx="655203" cy="192024"/>
          </a:xfrm>
          <a:prstGeom prst="roundRect">
            <a:avLst>
              <a:gd name="adj" fmla="val 19048"/>
            </a:avLst>
          </a:prstGeom>
          <a:solidFill>
            <a:srgbClr val="5D718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0" name="Shape 38"/>
          <p:cNvSpPr/>
          <p:nvPr/>
        </p:nvSpPr>
        <p:spPr>
          <a:xfrm>
            <a:off x="502920" y="5257800"/>
            <a:ext cx="11185855" cy="301752"/>
          </a:xfrm>
          <a:prstGeom prst="rect">
            <a:avLst/>
          </a:prstGeom>
          <a:solidFill>
            <a:srgbClr val="F2F5E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1" name="Text 39"/>
          <p:cNvSpPr/>
          <p:nvPr/>
        </p:nvSpPr>
        <p:spPr>
          <a:xfrm>
            <a:off x="502920" y="5257800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Revisión final y 4.ª presentación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10370475" y="5312664"/>
            <a:ext cx="986752" cy="192024"/>
          </a:xfrm>
          <a:prstGeom prst="roundRect">
            <a:avLst>
              <a:gd name="adj" fmla="val 19048"/>
            </a:avLst>
          </a:prstGeom>
          <a:solidFill>
            <a:srgbClr val="5D718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3" name="Text 41"/>
          <p:cNvSpPr/>
          <p:nvPr/>
        </p:nvSpPr>
        <p:spPr>
          <a:xfrm>
            <a:off x="502920" y="5559552"/>
            <a:ext cx="3200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Corrección, defensa y titulación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1033572" y="5614416"/>
            <a:ext cx="655203" cy="192024"/>
          </a:xfrm>
          <a:prstGeom prst="roundRect">
            <a:avLst>
              <a:gd name="adj" fmla="val 19048"/>
            </a:avLst>
          </a:prstGeom>
          <a:solidFill>
            <a:srgbClr val="5D718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5" name="Shape 43"/>
          <p:cNvSpPr/>
          <p:nvPr/>
        </p:nvSpPr>
        <p:spPr>
          <a:xfrm>
            <a:off x="5768264" y="2240280"/>
            <a:ext cx="0" cy="3621024"/>
          </a:xfrm>
          <a:prstGeom prst="line">
            <a:avLst/>
          </a:prstGeom>
          <a:noFill/>
          <a:ln w="9525">
            <a:solidFill>
              <a:srgbClr val="C9D2BB"/>
            </a:solidFill>
            <a:prstDash val="dash"/>
          </a:ln>
        </p:spPr>
        <p:txBody>
          <a:bodyPr/>
          <a:lstStyle/>
          <a:p>
            <a:endParaRPr lang="es-MX"/>
          </a:p>
        </p:txBody>
      </p:sp>
      <p:sp>
        <p:nvSpPr>
          <p:cNvPr id="46" name="Shape 44"/>
          <p:cNvSpPr/>
          <p:nvPr/>
        </p:nvSpPr>
        <p:spPr>
          <a:xfrm>
            <a:off x="7741768" y="2240280"/>
            <a:ext cx="0" cy="3621024"/>
          </a:xfrm>
          <a:prstGeom prst="line">
            <a:avLst/>
          </a:prstGeom>
          <a:noFill/>
          <a:ln w="9525">
            <a:solidFill>
              <a:srgbClr val="C9D2BB"/>
            </a:solidFill>
            <a:prstDash val="dash"/>
          </a:ln>
        </p:spPr>
        <p:txBody>
          <a:bodyPr/>
          <a:lstStyle/>
          <a:p>
            <a:endParaRPr lang="es-MX"/>
          </a:p>
        </p:txBody>
      </p:sp>
      <p:sp>
        <p:nvSpPr>
          <p:cNvPr id="47" name="Shape 45"/>
          <p:cNvSpPr/>
          <p:nvPr/>
        </p:nvSpPr>
        <p:spPr>
          <a:xfrm>
            <a:off x="9715271" y="2240280"/>
            <a:ext cx="0" cy="3621024"/>
          </a:xfrm>
          <a:prstGeom prst="line">
            <a:avLst/>
          </a:prstGeom>
          <a:noFill/>
          <a:ln w="9525">
            <a:solidFill>
              <a:srgbClr val="C9D2BB"/>
            </a:solidFill>
            <a:prstDash val="dash"/>
          </a:ln>
        </p:spPr>
        <p:txBody>
          <a:bodyPr/>
          <a:lstStyle/>
          <a:p>
            <a:endParaRPr lang="es-MX"/>
          </a:p>
        </p:txBody>
      </p:sp>
      <p:sp>
        <p:nvSpPr>
          <p:cNvPr id="48" name="Shape 46"/>
          <p:cNvSpPr/>
          <p:nvPr/>
        </p:nvSpPr>
        <p:spPr>
          <a:xfrm>
            <a:off x="502920" y="6035040"/>
            <a:ext cx="256032" cy="164592"/>
          </a:xfrm>
          <a:prstGeom prst="roundRect">
            <a:avLst>
              <a:gd name="adj" fmla="val 16667"/>
            </a:avLst>
          </a:prstGeom>
          <a:solidFill>
            <a:srgbClr val="7D9A4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9" name="Text 47"/>
          <p:cNvSpPr/>
          <p:nvPr/>
        </p:nvSpPr>
        <p:spPr>
          <a:xfrm>
            <a:off x="813816" y="5998464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Completado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1938528" y="6035040"/>
            <a:ext cx="256032" cy="164592"/>
          </a:xfrm>
          <a:prstGeom prst="roundRect">
            <a:avLst>
              <a:gd name="adj" fmla="val 16667"/>
            </a:avLst>
          </a:prstGeom>
          <a:solidFill>
            <a:srgbClr val="F26B1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51" name="Text 49"/>
          <p:cNvSpPr/>
          <p:nvPr/>
        </p:nvSpPr>
        <p:spPr>
          <a:xfrm>
            <a:off x="2249424" y="5998464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curso (este semestre)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462272" y="6035040"/>
            <a:ext cx="256032" cy="164592"/>
          </a:xfrm>
          <a:prstGeom prst="roundRect">
            <a:avLst>
              <a:gd name="adj" fmla="val 16667"/>
            </a:avLst>
          </a:prstGeom>
          <a:solidFill>
            <a:srgbClr val="5D718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53" name="Text 51"/>
          <p:cNvSpPr/>
          <p:nvPr/>
        </p:nvSpPr>
        <p:spPr>
          <a:xfrm>
            <a:off x="4773168" y="5998464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Planeado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686800" y="5998464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i="1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retribución social cada semestre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329184"/>
          </a:xfrm>
          <a:prstGeom prst="roundRect">
            <a:avLst>
              <a:gd name="adj" fmla="val 16667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420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33272" y="3840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BIBLIOGRAFÍA GENERAL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F4F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Referencias principales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D71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Fuentes que sustentan el marco teórico y el estado del arte. La lista completa (83 referencias) está en el documento de tesis.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057400"/>
            <a:ext cx="55778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 </a:t>
            </a: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Anthropic (2024). Introducing the Model Context Protocol (MCP).</a:t>
            </a:r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0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 </a:t>
            </a: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Hou, X., Zhao, Y., Wang, S. &amp; Wang, H. (2025). Model Context Protocol (MCP): Landscape, security threats, and future research directions.</a:t>
            </a:r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0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 </a:t>
            </a: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Ray, P. P. (2025). A survey on Model Context Protocol: Architecture, state-of-the-art, challenges and future directions.</a:t>
            </a:r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0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 </a:t>
            </a: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Lewis, P. et al. (2020). Retrieval-Augmented Generation for knowledge-intensive NLP tasks. NeurIPS.</a:t>
            </a:r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0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 </a:t>
            </a: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Sui, Y. et al. (2024). Table meets LLM: Can large language models understand structured table data? ACM WSDM.</a:t>
            </a:r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0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 </a:t>
            </a: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Zhao, F. et al. (2025). Hybrid Querying over Relational Databases and Large Language Models. CIDR '25.</a:t>
            </a:r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0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  </a:t>
            </a: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Page, M. J. et al. (2021). The PRISMA 2020 statement: an updated guideline for reporting systematic reviews.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355080" y="2057400"/>
            <a:ext cx="53492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  </a:t>
            </a: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Kitchenham, B. &amp; Charters, S. (2007). Guidelines for performing systematic literature reviews in software engineering.</a:t>
            </a:r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0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  </a:t>
            </a: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(2019). ISO 9241-210: Human-centred design for interactive systems.</a:t>
            </a:r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0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10.  </a:t>
            </a: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Carrera-Rivera, A., Larrinaga, F. &amp; Lasa, G. (2022). Context-awareness for the design of Smart product-service systems.</a:t>
            </a:r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0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11.  </a:t>
            </a: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Domínguez-García, R. O. et al. (2020). Sistema de monitoreo de temperatura y humedad en el Data Center de CUValles mediante IoT.</a:t>
            </a:r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0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12.  </a:t>
            </a: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Vallejo-Sánchez, D. et al. (2024). Desarrollo de una arquitectura IoT para monitoreo ambiental.</a:t>
            </a:r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0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13.  </a:t>
            </a: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Quiroz-Valdez, J. A. et al. (2024). Sistema de monitoreo IoT para la gestión inteligente de cultivos.</a:t>
            </a:r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000" b="1" dirty="0">
                <a:solidFill>
                  <a:srgbClr val="5A72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14.  </a:t>
            </a:r>
            <a:r>
              <a:rPr lang="en-US" sz="10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Flores Quisbert, E. (2008). Agentes inteligentes: el siguiente paso en la inteligencia artificial.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2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cho Andrade\Documents\Claude\Projects\Tesis Nacho\Presentacion_Avances\assets\Fondo2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1E">
              <a:alpha val="62000"/>
            </a:srgbClr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4" name="Image 1" descr="C:\Users\Nacho Andrade\Documents\Claude\Projects\Tesis Nacho\Presentacion_Avances\assets\LogoUdG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50408" y="640080"/>
            <a:ext cx="1097280" cy="125324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371600" y="1920240"/>
            <a:ext cx="94457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dato técnico a </a:t>
            </a:r>
            <a:r>
              <a:rPr lang="en-US" sz="3400" b="1" dirty="0">
                <a:solidFill>
                  <a:srgbClr val="AAC2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lenguaje que todos entienden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1828800" y="3200400"/>
            <a:ext cx="8531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 plataforma web + agente inteligente para la información ambiental de la Región Valles.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2743200" y="3931920"/>
            <a:ext cx="2798064" cy="457200"/>
          </a:xfrm>
          <a:prstGeom prst="roundRect">
            <a:avLst>
              <a:gd name="adj" fmla="val 50000"/>
            </a:avLst>
          </a:prstGeom>
          <a:solidFill>
            <a:srgbClr val="5A723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8" name="Text 4"/>
          <p:cNvSpPr/>
          <p:nvPr/>
        </p:nvSpPr>
        <p:spPr>
          <a:xfrm>
            <a:off x="2743200" y="3931920"/>
            <a:ext cx="27980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Avances 2.º semestre completos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769864" y="3931920"/>
            <a:ext cx="4059936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Text 6"/>
          <p:cNvSpPr/>
          <p:nvPr/>
        </p:nvSpPr>
        <p:spPr>
          <a:xfrm>
            <a:off x="5769864" y="3931920"/>
            <a:ext cx="4059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Siguiente: arquitectura y prototipo funcional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377440" y="4709160"/>
            <a:ext cx="3291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F26B1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Shape 8"/>
          <p:cNvSpPr/>
          <p:nvPr/>
        </p:nvSpPr>
        <p:spPr>
          <a:xfrm>
            <a:off x="2487168" y="4768596"/>
            <a:ext cx="658368" cy="658368"/>
          </a:xfrm>
          <a:prstGeom prst="ellipse">
            <a:avLst/>
          </a:prstGeom>
          <a:solidFill>
            <a:srgbClr val="FCEDE1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13" name="Image 2" descr="C:\Users\Nacho Andrade\Documents\Claude\Projects\Tesis Nacho\Presentacion_Avances\assets\leo_saludo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505456" y="4786884"/>
            <a:ext cx="621792" cy="6217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273552" y="48006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F26B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Leo  </a:t>
            </a: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¡Gracias por su atención!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309360" y="4709160"/>
            <a:ext cx="35661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1FAFB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Shape 11"/>
          <p:cNvSpPr/>
          <p:nvPr/>
        </p:nvSpPr>
        <p:spPr>
          <a:xfrm>
            <a:off x="6419088" y="4768596"/>
            <a:ext cx="658368" cy="658368"/>
          </a:xfrm>
          <a:prstGeom prst="ellipse">
            <a:avLst/>
          </a:prstGeom>
          <a:solidFill>
            <a:srgbClr val="E7F6F8"/>
          </a:solidFill>
          <a:ln w="12700">
            <a:solidFill>
              <a:srgbClr val="1FAFB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17" name="Image 3" descr="C:\Users\Nacho Andrade\Documents\Claude\Projects\Tesis Nacho\Presentacion_Avances\assets\ecoflow_idl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454628" y="4791974"/>
            <a:ext cx="486461" cy="6080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205472" y="48006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AF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EcoFlow  </a:t>
            </a:r>
            <a:r>
              <a:rPr lang="en-US" sz="1100" dirty="0">
                <a:solidFill>
                  <a:srgbClr val="2A32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¿Tienen preguntas? Con gusto las respondo.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914400" y="594360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FE6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Lic. Ignacio Andrade Salazar · Maestría en Ingeniería de Software · CUValles, UDG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2627</Words>
  <Application>Microsoft Office PowerPoint</Application>
  <PresentationFormat>Panorámica</PresentationFormat>
  <Paragraphs>358</Paragraphs>
  <Slides>19</Slides>
  <Notes>19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3" baseType="lpstr">
      <vt:lpstr>Arial</vt:lpstr>
      <vt:lpstr>Georgia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ANDRADE SALAZAR, IGNACIO</cp:lastModifiedBy>
  <cp:revision>2</cp:revision>
  <dcterms:created xsi:type="dcterms:W3CDTF">2026-06-22T18:34:04Z</dcterms:created>
  <dcterms:modified xsi:type="dcterms:W3CDTF">2026-06-22T23:39:07Z</dcterms:modified>
</cp:coreProperties>
</file>